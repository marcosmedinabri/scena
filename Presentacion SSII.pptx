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65" r:id="rId6"/>
    <p:sldId id="257" r:id="rId7"/>
    <p:sldId id="258" r:id="rId8"/>
    <p:sldId id="259" r:id="rId9"/>
    <p:sldId id="267" r:id="rId10"/>
    <p:sldId id="261" r:id="rId11"/>
    <p:sldId id="262" r:id="rId12"/>
    <p:sldId id="263" r:id="rId13"/>
    <p:sldId id="264" r:id="rId14"/>
    <p:sldId id="269" r:id="rId15"/>
    <p:sldId id="268" r:id="rId16"/>
    <p:sldId id="266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CBFB"/>
    <a:srgbClr val="384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DD7E7C-0C07-E26E-E514-EBB9D85C9ABC}" v="7" dt="2026-05-26T08:48:18.938"/>
    <p1510:client id="{2150D2CD-9DF6-6B12-D041-2E6994AADBCC}" v="19" dt="2026-05-26T09:58:41.728"/>
    <p1510:client id="{25882A5A-006C-4E44-A6BD-A3920D47802F}" v="4" dt="2026-05-26T09:05:59.143"/>
    <p1510:client id="{3E47572D-A2FC-4C77-B25B-3572D14CD2A9}" v="778" dt="2026-05-25T15:26:36.811"/>
    <p1510:client id="{B7C08017-3E6B-5EE4-9169-6D51F856BC7F}" v="4" dt="2026-05-25T16:26:20.226"/>
    <p1510:client id="{EB60076D-78E3-5BA8-1F2D-4825BEFAB343}" v="70" dt="2026-05-25T19:53:33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FCDD7-6A19-4DA0-B221-1AA490E91C22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7420BF-D0DA-45F2-8996-588259B9F7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9391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12EF7-32A4-14FF-4AF4-3AA4261D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F76DF-D72E-ABD3-311F-C1F5471A1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B3EA7-9986-F33C-F7CF-B79EDEDF2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6C3EB-CEED-F827-094C-DC0B726B0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311A7-DFF3-479D-A933-258F9669D60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163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311A7-DFF3-479D-A933-258F9669D60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7111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2ED9C-741B-438F-A90E-0D9A1BB15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45169-24D4-D479-D4B5-211F57DC8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9EB18-2615-8949-5395-232B7C831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A61CF-649B-A358-C9E8-9801011C6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311A7-DFF3-479D-A933-258F9669D60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6197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E63DA-9214-7AE9-1F17-92777FDCA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300C7-178C-8F9B-95ED-45DF9C0C9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E4962-CEAF-686E-D02F-61D76F112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81380-C12C-98D7-FCC7-2F12284F3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311A7-DFF3-479D-A933-258F9669D60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6028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EBBAA-F7CC-913D-9ACD-C621CA6A4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45FAF-42AC-CAE1-10F0-CBDF44D42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1F0F9-562A-EA74-4ABA-E52F27ABA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0D275-0428-51B3-DC20-12AA74883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311A7-DFF3-479D-A933-258F9669D60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7243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54A35-BB45-1EC7-C33F-2B213BE75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14F92-84D0-9CEB-62C8-38675CFD7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43E48-CC06-236B-A8B0-0B32A88C9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9AEED-AC06-4962-0E0F-A4CD75183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311A7-DFF3-479D-A933-258F9669D60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5035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94F7F-9268-2DAB-7B1A-1BFC85C58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63859-693F-0174-12CC-787A71C91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5D541-60C4-D515-28AB-5E672EC8D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6251C-513F-4618-BC07-8EBC75413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311A7-DFF3-479D-A933-258F9669D60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3451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152A-528D-E90D-A7B5-FD85B7076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B4243-D7DD-3CEA-8451-223B9A3FE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CB394-9955-33A1-D50C-C8BAC2498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199FD-BEA0-00C6-CBEB-B19A1CF7C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311A7-DFF3-479D-A933-258F9669D60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4161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152A-528D-E90D-A7B5-FD85B7076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B4243-D7DD-3CEA-8451-223B9A3FE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CB394-9955-33A1-D50C-C8BAC2498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199FD-BEA0-00C6-CBEB-B19A1CF7C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311A7-DFF3-479D-A933-258F9669D60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4161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79F8B-BC4E-532A-7805-4364F90D5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C7845-1E0B-A8DE-F7A2-F46B4BB16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D32FA-007F-7CB3-B196-4E778334E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DCC7E-ECBE-CE71-1D87-FEC967E4C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311A7-DFF3-479D-A933-258F9669D60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3674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2519-5D1C-60B1-BF35-F35139EE4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F6B1B-8FCC-1A1C-6219-28DA38985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3AA98-FBEC-69B5-6A49-849523A7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7DA2-D131-4542-BD26-F622D4DC028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9616C-CA97-7CD8-09C7-FD1DD115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AC2AC-2690-90AE-4F70-5F3574686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0E88-54F5-49A6-830A-350CD9AA9C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9805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9157E-13C7-A28E-916B-10C75B11B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4486A-EE6A-AA82-EC99-729BF5DA4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70168-A366-1C78-B1AB-4662903B6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7DA2-D131-4542-BD26-F622D4DC028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4B272-E65A-C8EF-0FF8-04EDE707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BE0C8-7EB5-9077-EE8E-BDC02EEC6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0E88-54F5-49A6-830A-350CD9AA9C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0986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201C7-9B05-E32F-3A3C-7DD57E878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872A6-477B-676A-A5C9-F1EAFBF98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A813-C509-A9D0-59E6-0CEE5977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7DA2-D131-4542-BD26-F622D4DC028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06EE8-A270-31B8-F4D4-30D622B3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96683-B3F5-6057-37D3-6D8321379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0E88-54F5-49A6-830A-350CD9AA9C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1254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A50C-829E-A2C1-7AD6-3E1515AA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E54D2-2163-F0FA-7F89-CA3358CF2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E4AF3-2E76-B618-4D1E-4AAF77BD7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3ACB8-7831-D064-4FD6-4B096336F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7DA2-D131-4542-BD26-F622D4DC028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8E262-3922-8056-8D7A-B4F242E4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1758E-BA41-E0EC-AD90-93076A25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0E88-54F5-49A6-830A-350CD9AA9C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0983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B2072-05E6-1BA0-56E2-5F2FA8B4D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DF24D-DCA3-A4FF-8C7D-652AD12C7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A7DB0-5C1A-FDDA-9D5E-71C774724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71BE3-2DE3-1857-A6DE-BBDE888DF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45996-DE63-D672-FFBF-549BD83D3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49B935-2DE8-615B-D239-7C2CD95E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7DA2-D131-4542-BD26-F622D4DC028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95E62E-1DE1-F94E-EC69-B699F19F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533E0-A9CD-4342-0B8F-4998A5451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0E88-54F5-49A6-830A-350CD9AA9C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429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016A-72AE-FB60-DB5D-3FF529C1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9DB10-68C3-DCE6-28E4-FB3CC596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7DA2-D131-4542-BD26-F622D4DC028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F2A90-1D90-DFD4-F073-07EBBFBD9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3A48DD-ACDE-F207-521F-D7C343E4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0E88-54F5-49A6-830A-350CD9AA9C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0405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7C55A-D043-4FEE-E51A-9E6F95CF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7DA2-D131-4542-BD26-F622D4DC028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A13762-0C39-4C7F-18CD-6D48F742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CF7A6-F4AF-A82E-5A3A-E8319E85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0E88-54F5-49A6-830A-350CD9AA9C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2621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600D5-91B7-ECE3-02A2-989DEF1C4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03F5A-D97B-A4D6-F918-AE04BC217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B218D-C530-58DB-63CC-C151B2970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D776B-239F-AF19-EE91-704867C4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7DA2-D131-4542-BD26-F622D4DC028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16757-48FE-CB8B-1B6F-DBC49CEF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7B4D8-2EFA-A167-0A85-51BD4B14F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0E88-54F5-49A6-830A-350CD9AA9C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25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A696-F22C-6E5D-F96B-09074711E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8E6C25-7D0D-0F87-BECA-CFB9FEB09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753E2-A0ED-8285-467B-8B1ECCDF0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CA94E-B01A-6787-DFD7-310A1D87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7DA2-D131-4542-BD26-F622D4DC028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7640F-F23C-F413-A756-5E34C1BB1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66D0B-FC10-E48C-E150-9EE1696C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0E88-54F5-49A6-830A-350CD9AA9C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8158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9A29-6756-3BCD-50DA-F3C2C241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4E37E-C498-EEB3-2119-77E43755B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DD1E3-FAEC-67FD-2677-43AF396F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7DA2-D131-4542-BD26-F622D4DC028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E4886-7F6E-D01A-F910-58E23DD5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B0F10-FDB2-2D32-7A90-06D7A2BBA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0E88-54F5-49A6-830A-350CD9AA9C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033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98DD2B-1D92-651D-A309-E0D172249C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BFC94-3523-4C8D-6152-56FFE0F95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3F442-6255-27AC-C55B-81D07BE60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7DA2-D131-4542-BD26-F622D4DC028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FE345-52BA-AF54-45A7-4D28A9D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9308-57A9-09F0-A8C3-7616ACA9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0E88-54F5-49A6-830A-350CD9AA9C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721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11603-3B56-7BA9-9DD0-868EDB7E9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CB76C-3951-92B8-FDAD-79EAC353B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E0329-53CF-78FD-4CCB-DE7747A08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F97DA2-D131-4542-BD26-F622D4DC0281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FE323-DE20-F876-494A-2F475C82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77C27-349D-E7CF-E2F7-4CEDB33E9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00E88-54F5-49A6-830A-350CD9AA9C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138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2.jpeg"/><Relationship Id="rId10" Type="http://schemas.openxmlformats.org/officeDocument/2006/relationships/image" Target="../media/image16.svg"/><Relationship Id="rId4" Type="http://schemas.openxmlformats.org/officeDocument/2006/relationships/image" Target="../media/image11.jpe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755B26-158E-D0D3-71D1-E05C4B2928A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16079" y="1842229"/>
            <a:ext cx="625384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4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Sistema </a:t>
            </a:r>
            <a:r>
              <a:rPr lang="es-ES" sz="4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recomendador</a:t>
            </a:r>
            <a:r>
              <a:rPr lang="es-ES" sz="4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películas </a:t>
            </a:r>
            <a:r>
              <a:rPr lang="es-ES" sz="4800" b="1">
                <a:solidFill>
                  <a:srgbClr val="38459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DF61DD-D374-6576-CD88-444AFBBF1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078" y="3264157"/>
            <a:ext cx="636085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uso de agentes para</a:t>
            </a:r>
            <a:r>
              <a:rPr lang="es-ES" altLang="es-ES" sz="3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tener una lista de películas a tu medida</a:t>
            </a:r>
            <a:r>
              <a:rPr kumimoji="0" lang="es-ES" altLang="es-E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3071F4-4D8F-F438-38DE-69EA96A261B7}"/>
              </a:ext>
            </a:extLst>
          </p:cNvPr>
          <p:cNvSpPr/>
          <p:nvPr/>
        </p:nvSpPr>
        <p:spPr>
          <a:xfrm>
            <a:off x="914401" y="4633486"/>
            <a:ext cx="2713703" cy="530942"/>
          </a:xfrm>
          <a:prstGeom prst="roundRect">
            <a:avLst/>
          </a:prstGeom>
          <a:noFill/>
          <a:ln>
            <a:solidFill>
              <a:srgbClr val="073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rgbClr val="073E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SILVIA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8C3060-D24F-8AB8-4467-EDE490F9ECF0}"/>
              </a:ext>
            </a:extLst>
          </p:cNvPr>
          <p:cNvSpPr/>
          <p:nvPr/>
        </p:nvSpPr>
        <p:spPr>
          <a:xfrm>
            <a:off x="3937819" y="5252623"/>
            <a:ext cx="2713703" cy="530942"/>
          </a:xfrm>
          <a:prstGeom prst="roundRect">
            <a:avLst/>
          </a:prstGeom>
          <a:noFill/>
          <a:ln>
            <a:solidFill>
              <a:srgbClr val="073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2000">
                <a:solidFill>
                  <a:srgbClr val="073EA7"/>
                </a:solidFill>
                <a:latin typeface="Calibri"/>
                <a:ea typeface="Calibri"/>
                <a:cs typeface="Calibri"/>
              </a:rPr>
              <a:t>DANIEL</a:t>
            </a:r>
            <a:endParaRPr lang="es-ES" sz="2000" dirty="0">
              <a:solidFill>
                <a:srgbClr val="073EA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8EB1DC-90D6-9B41-C1B2-1493B9312B1A}"/>
              </a:ext>
            </a:extLst>
          </p:cNvPr>
          <p:cNvSpPr/>
          <p:nvPr/>
        </p:nvSpPr>
        <p:spPr>
          <a:xfrm>
            <a:off x="914400" y="5252623"/>
            <a:ext cx="2713703" cy="530942"/>
          </a:xfrm>
          <a:prstGeom prst="roundRect">
            <a:avLst/>
          </a:prstGeom>
          <a:noFill/>
          <a:ln>
            <a:solidFill>
              <a:srgbClr val="073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rgbClr val="073E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1A4E37-8295-A123-C029-19DA5F254529}"/>
              </a:ext>
            </a:extLst>
          </p:cNvPr>
          <p:cNvSpPr/>
          <p:nvPr/>
        </p:nvSpPr>
        <p:spPr>
          <a:xfrm>
            <a:off x="3937820" y="4635978"/>
            <a:ext cx="2713703" cy="530942"/>
          </a:xfrm>
          <a:prstGeom prst="roundRect">
            <a:avLst/>
          </a:prstGeom>
          <a:noFill/>
          <a:ln>
            <a:solidFill>
              <a:srgbClr val="073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rgbClr val="073E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DIEGO</a:t>
            </a:r>
          </a:p>
        </p:txBody>
      </p:sp>
      <p:pic>
        <p:nvPicPr>
          <p:cNvPr id="12" name="Picture 11" descr="Flat line-art vertical azul-violeta de proyector de cine antiguo rodeado de iconos de agentes conectados, fondo blanco">
            <a:extLst>
              <a:ext uri="{FF2B5EF4-FFF2-40B4-BE49-F238E27FC236}">
                <a16:creationId xmlns:a16="http://schemas.microsoft.com/office/drawing/2014/main" id="{05BEF8EA-1705-8C90-25A7-539BEF9EA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616" y="376478"/>
            <a:ext cx="4070029" cy="610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559502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EC569-CB45-EE84-BE4A-A66E0E489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45E7079-1D8A-A9EB-3E97-6B9CC848E721}"/>
              </a:ext>
            </a:extLst>
          </p:cNvPr>
          <p:cNvSpPr txBox="1"/>
          <p:nvPr/>
        </p:nvSpPr>
        <p:spPr>
          <a:xfrm>
            <a:off x="736055" y="350325"/>
            <a:ext cx="8150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err="1">
                <a:solidFill>
                  <a:srgbClr val="093F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Roadmap</a:t>
            </a:r>
            <a:endParaRPr lang="es-ES" sz="3600" b="1">
              <a:solidFill>
                <a:srgbClr val="093FA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E38A903-B72E-B11C-4D7F-2B543CB59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4" y="2575848"/>
            <a:ext cx="10693932" cy="2931836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2AA6206B-3B78-67D5-9DC2-8A8CCBDEB696}"/>
              </a:ext>
            </a:extLst>
          </p:cNvPr>
          <p:cNvSpPr/>
          <p:nvPr/>
        </p:nvSpPr>
        <p:spPr>
          <a:xfrm>
            <a:off x="144490" y="4387874"/>
            <a:ext cx="2038387" cy="276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Estado del Arte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A7E644-4A4B-B8E5-2B23-35A6B12A3B1F}"/>
              </a:ext>
            </a:extLst>
          </p:cNvPr>
          <p:cNvSpPr/>
          <p:nvPr/>
        </p:nvSpPr>
        <p:spPr>
          <a:xfrm>
            <a:off x="2317380" y="2437429"/>
            <a:ext cx="1383750" cy="276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Solución</a:t>
            </a:r>
            <a:endParaRPr lang="en-US" b="1">
              <a:solidFill>
                <a:srgbClr val="27252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69958E5-AAFC-6732-0297-1C1CDF8CC871}"/>
              </a:ext>
            </a:extLst>
          </p:cNvPr>
          <p:cNvSpPr/>
          <p:nvPr/>
        </p:nvSpPr>
        <p:spPr>
          <a:xfrm>
            <a:off x="6653557" y="2566374"/>
            <a:ext cx="1310571" cy="29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Desarrollo/s</a:t>
            </a:r>
            <a:endParaRPr lang="en-US" b="1">
              <a:solidFill>
                <a:srgbClr val="27252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FEE8E945-C97C-77C0-0912-29BC54A72FCA}"/>
              </a:ext>
            </a:extLst>
          </p:cNvPr>
          <p:cNvSpPr/>
          <p:nvPr/>
        </p:nvSpPr>
        <p:spPr>
          <a:xfrm>
            <a:off x="4238799" y="5275928"/>
            <a:ext cx="1963571" cy="370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b="1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Arquitectura</a:t>
            </a:r>
            <a:endParaRPr lang="en-US" b="1">
              <a:solidFill>
                <a:srgbClr val="27252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457EAB17-7F65-BBFE-4ED5-3F2F9DC9C3F1}"/>
              </a:ext>
            </a:extLst>
          </p:cNvPr>
          <p:cNvSpPr/>
          <p:nvPr/>
        </p:nvSpPr>
        <p:spPr>
          <a:xfrm>
            <a:off x="9006348" y="5281108"/>
            <a:ext cx="1310571" cy="29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7E66224A-72DD-61D8-2273-6DF72183C448}"/>
              </a:ext>
            </a:extLst>
          </p:cNvPr>
          <p:cNvSpPr/>
          <p:nvPr/>
        </p:nvSpPr>
        <p:spPr>
          <a:xfrm>
            <a:off x="10736939" y="4208952"/>
            <a:ext cx="1310571" cy="29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Demo</a:t>
            </a:r>
            <a:endParaRPr lang="en-US" b="1">
              <a:solidFill>
                <a:srgbClr val="27252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Graphic 16" descr="Badge 6 outline">
            <a:extLst>
              <a:ext uri="{FF2B5EF4-FFF2-40B4-BE49-F238E27FC236}">
                <a16:creationId xmlns:a16="http://schemas.microsoft.com/office/drawing/2014/main" id="{34FBF403-9F33-4C6C-44A7-C832DA29DA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196" y="3166893"/>
            <a:ext cx="648000" cy="648000"/>
          </a:xfrm>
          <a:prstGeom prst="rect">
            <a:avLst/>
          </a:prstGeom>
        </p:spPr>
      </p:pic>
      <p:pic>
        <p:nvPicPr>
          <p:cNvPr id="19" name="Graphic 18" descr="Badge 5 outline">
            <a:extLst>
              <a:ext uri="{FF2B5EF4-FFF2-40B4-BE49-F238E27FC236}">
                <a16:creationId xmlns:a16="http://schemas.microsoft.com/office/drawing/2014/main" id="{38E857CD-B51F-0E1A-62AB-02C84A21B5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57855" y="4366433"/>
            <a:ext cx="648000" cy="648000"/>
          </a:xfrm>
          <a:prstGeom prst="rect">
            <a:avLst/>
          </a:prstGeom>
        </p:spPr>
      </p:pic>
      <p:pic>
        <p:nvPicPr>
          <p:cNvPr id="21" name="Graphic 20" descr="Badge 4 outline">
            <a:extLst>
              <a:ext uri="{FF2B5EF4-FFF2-40B4-BE49-F238E27FC236}">
                <a16:creationId xmlns:a16="http://schemas.microsoft.com/office/drawing/2014/main" id="{DC044ED5-7106-C441-D34F-A8B3A3CF2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4584" y="3117735"/>
            <a:ext cx="648000" cy="648000"/>
          </a:xfrm>
          <a:prstGeom prst="rect">
            <a:avLst/>
          </a:prstGeom>
        </p:spPr>
      </p:pic>
      <p:pic>
        <p:nvPicPr>
          <p:cNvPr id="23" name="Graphic 22" descr="Badge 3 outline">
            <a:extLst>
              <a:ext uri="{FF2B5EF4-FFF2-40B4-BE49-F238E27FC236}">
                <a16:creationId xmlns:a16="http://schemas.microsoft.com/office/drawing/2014/main" id="{9FB464FD-A0A9-B5A7-1990-520125B19B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13074" y="4395931"/>
            <a:ext cx="648000" cy="648000"/>
          </a:xfrm>
          <a:prstGeom prst="rect">
            <a:avLst/>
          </a:prstGeom>
        </p:spPr>
      </p:pic>
      <p:pic>
        <p:nvPicPr>
          <p:cNvPr id="25" name="Graphic 24" descr="Badge outline">
            <a:extLst>
              <a:ext uri="{FF2B5EF4-FFF2-40B4-BE49-F238E27FC236}">
                <a16:creationId xmlns:a16="http://schemas.microsoft.com/office/drawing/2014/main" id="{211D4D7B-7E78-ED8D-0587-7D5DE8697D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16953" y="3009577"/>
            <a:ext cx="648000" cy="648000"/>
          </a:xfrm>
          <a:prstGeom prst="rect">
            <a:avLst/>
          </a:prstGeom>
        </p:spPr>
      </p:pic>
      <p:pic>
        <p:nvPicPr>
          <p:cNvPr id="27" name="Graphic 26" descr="Badge 1 outline">
            <a:extLst>
              <a:ext uri="{FF2B5EF4-FFF2-40B4-BE49-F238E27FC236}">
                <a16:creationId xmlns:a16="http://schemas.microsoft.com/office/drawing/2014/main" id="{7B0779E4-9D98-5B1A-068D-CD30899BCF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0517" y="3236553"/>
            <a:ext cx="646332" cy="64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738010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7C06E4C-D22B-4109-7BA7-FA3FDFC65EDA}"/>
              </a:ext>
            </a:extLst>
          </p:cNvPr>
          <p:cNvSpPr txBox="1"/>
          <p:nvPr/>
        </p:nvSpPr>
        <p:spPr>
          <a:xfrm>
            <a:off x="855404" y="350325"/>
            <a:ext cx="8150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>
                <a:solidFill>
                  <a:srgbClr val="093F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El desafío de los domingos por la tarde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0614C8-A789-FBFC-18DA-4EB730B36450}"/>
              </a:ext>
            </a:extLst>
          </p:cNvPr>
          <p:cNvSpPr/>
          <p:nvPr/>
        </p:nvSpPr>
        <p:spPr>
          <a:xfrm>
            <a:off x="5373327" y="1416412"/>
            <a:ext cx="6258234" cy="1256419"/>
          </a:xfrm>
          <a:prstGeom prst="roundRect">
            <a:avLst/>
          </a:prstGeom>
          <a:noFill/>
          <a:ln>
            <a:solidFill>
              <a:srgbClr val="B6CD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Sobrecarga de contenido</a:t>
            </a:r>
          </a:p>
          <a:p>
            <a:r>
              <a:rPr lang="es-E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exceso de plataformas satura al usuario con contenido indeseado.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CCFE0C-8216-6196-DEDA-366796CB5D33}"/>
              </a:ext>
            </a:extLst>
          </p:cNvPr>
          <p:cNvSpPr/>
          <p:nvPr/>
        </p:nvSpPr>
        <p:spPr>
          <a:xfrm>
            <a:off x="5373327" y="2928751"/>
            <a:ext cx="6258234" cy="1256419"/>
          </a:xfrm>
          <a:prstGeom prst="roundRect">
            <a:avLst/>
          </a:prstGeom>
          <a:noFill/>
          <a:ln>
            <a:solidFill>
              <a:srgbClr val="B6CD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Indecisión</a:t>
            </a:r>
            <a:endParaRPr lang="es-E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pierde tiempo valioso buscando qué ver y, a menudo, se abandona.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D396DF-1CA4-4C41-80D8-F2BEF10C32CC}"/>
              </a:ext>
            </a:extLst>
          </p:cNvPr>
          <p:cNvSpPr/>
          <p:nvPr/>
        </p:nvSpPr>
        <p:spPr>
          <a:xfrm>
            <a:off x="5373327" y="4441090"/>
            <a:ext cx="6258234" cy="1256419"/>
          </a:xfrm>
          <a:prstGeom prst="roundRect">
            <a:avLst/>
          </a:prstGeom>
          <a:noFill/>
          <a:ln>
            <a:solidFill>
              <a:srgbClr val="B6CD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Algoritmos genéricos</a:t>
            </a:r>
          </a:p>
          <a:p>
            <a:r>
              <a:rPr lang="es-E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recomendaciones actuales son poco personalizadas y repetitivas.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54CA39-7944-E7A1-41A2-10A8A4AD7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186" y="1998406"/>
            <a:ext cx="2861187" cy="286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8007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61123-B6C9-BF4E-B640-904F8C4B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BA64D9D-2813-EB00-4963-C207B7425A82}"/>
              </a:ext>
            </a:extLst>
          </p:cNvPr>
          <p:cNvSpPr txBox="1"/>
          <p:nvPr/>
        </p:nvSpPr>
        <p:spPr>
          <a:xfrm>
            <a:off x="855404" y="350325"/>
            <a:ext cx="8150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>
                <a:solidFill>
                  <a:srgbClr val="093F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Nuestra solución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88C1A8C-2499-E766-CE98-E40E2B3DD46F}"/>
              </a:ext>
            </a:extLst>
          </p:cNvPr>
          <p:cNvGrpSpPr/>
          <p:nvPr/>
        </p:nvGrpSpPr>
        <p:grpSpPr>
          <a:xfrm>
            <a:off x="738185" y="1535906"/>
            <a:ext cx="9179720" cy="4286250"/>
            <a:chOff x="369093" y="773907"/>
            <a:chExt cx="11739562" cy="5857874"/>
          </a:xfrm>
        </p:grpSpPr>
        <p:pic>
          <p:nvPicPr>
            <p:cNvPr id="2" name="Gráfico 1" descr="Patrones de diseño del sistema del agente: Azure Databricks | Microsoft  Learn">
              <a:extLst>
                <a:ext uri="{FF2B5EF4-FFF2-40B4-BE49-F238E27FC236}">
                  <a16:creationId xmlns:a16="http://schemas.microsoft.com/office/drawing/2014/main" id="{DA3FCBCA-0493-0843-18F2-6ABB5BA51A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23656" y="1797174"/>
              <a:ext cx="4898226" cy="1697741"/>
            </a:xfrm>
            <a:prstGeom prst="rect">
              <a:avLst/>
            </a:prstGeom>
          </p:spPr>
        </p:pic>
        <p:pic>
          <p:nvPicPr>
            <p:cNvPr id="3" name="Imagen 2" descr="Procesamiento del Lenguaje Natural: principales aplicaciones">
              <a:extLst>
                <a:ext uri="{FF2B5EF4-FFF2-40B4-BE49-F238E27FC236}">
                  <a16:creationId xmlns:a16="http://schemas.microsoft.com/office/drawing/2014/main" id="{7CC79B3C-7313-18FB-EFEB-974B2A1BD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17966" y="1664842"/>
              <a:ext cx="3207543" cy="2043207"/>
            </a:xfrm>
            <a:prstGeom prst="rect">
              <a:avLst/>
            </a:prstGeom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8D423EA9-6BD5-8E94-D15B-56E09D14A012}"/>
                </a:ext>
              </a:extLst>
            </p:cNvPr>
            <p:cNvSpPr txBox="1"/>
            <p:nvPr/>
          </p:nvSpPr>
          <p:spPr>
            <a:xfrm>
              <a:off x="1351366" y="4117976"/>
              <a:ext cx="4246799" cy="8900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s-ES"/>
                <a:t>0.5*Generos+0.3*Valoración + 0.15*</a:t>
              </a:r>
              <a:r>
                <a:rPr lang="es-ES" err="1"/>
                <a:t>Coincdencias</a:t>
              </a:r>
              <a:r>
                <a:rPr lang="es-ES"/>
                <a:t> Semánticas</a:t>
              </a:r>
            </a:p>
          </p:txBody>
        </p:sp>
        <p:pic>
          <p:nvPicPr>
            <p:cNvPr id="5" name="Imagen 4" descr="OMDB (Open Movie Database) API Tutorial">
              <a:extLst>
                <a:ext uri="{FF2B5EF4-FFF2-40B4-BE49-F238E27FC236}">
                  <a16:creationId xmlns:a16="http://schemas.microsoft.com/office/drawing/2014/main" id="{81CE5C09-AFE2-23F8-8E1A-709537AEB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22540" y="4235449"/>
              <a:ext cx="3071282" cy="1663696"/>
            </a:xfrm>
            <a:prstGeom prst="rect">
              <a:avLst/>
            </a:prstGeom>
          </p:spPr>
        </p:pic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B8F00E0B-2720-BCCD-6E2B-3121D4DCE632}"/>
                </a:ext>
              </a:extLst>
            </p:cNvPr>
            <p:cNvSpPr/>
            <p:nvPr/>
          </p:nvSpPr>
          <p:spPr>
            <a:xfrm>
              <a:off x="369093" y="773907"/>
              <a:ext cx="11739562" cy="585787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9" name="Picture 11" descr="Flat line-art vertical azul-violeta de proyector de cine antiguo rodeado de iconos de agentes conectados, fondo blanco">
            <a:extLst>
              <a:ext uri="{FF2B5EF4-FFF2-40B4-BE49-F238E27FC236}">
                <a16:creationId xmlns:a16="http://schemas.microsoft.com/office/drawing/2014/main" id="{957C74AB-F130-54B3-94AC-6EE452DB33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7397" y="3674509"/>
            <a:ext cx="1926905" cy="2902262"/>
          </a:xfrm>
          <a:prstGeom prst="rect">
            <a:avLst/>
          </a:prstGeom>
        </p:spPr>
      </p:pic>
      <p:pic>
        <p:nvPicPr>
          <p:cNvPr id="11" name="Gráfico 10" descr="Insignia 1 contorno">
            <a:extLst>
              <a:ext uri="{FF2B5EF4-FFF2-40B4-BE49-F238E27FC236}">
                <a16:creationId xmlns:a16="http://schemas.microsoft.com/office/drawing/2014/main" id="{896F4368-DEB3-F2DC-AB1A-B54EFC3E56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7018" y="1959768"/>
            <a:ext cx="473869" cy="473869"/>
          </a:xfrm>
          <a:prstGeom prst="rect">
            <a:avLst/>
          </a:prstGeom>
        </p:spPr>
      </p:pic>
      <p:pic>
        <p:nvPicPr>
          <p:cNvPr id="17" name="Gráfico 16" descr="Insignia contorno">
            <a:extLst>
              <a:ext uri="{FF2B5EF4-FFF2-40B4-BE49-F238E27FC236}">
                <a16:creationId xmlns:a16="http://schemas.microsoft.com/office/drawing/2014/main" id="{AEB11169-4BEF-23AD-56D7-B240C89C0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7832" y="1709736"/>
            <a:ext cx="592931" cy="581025"/>
          </a:xfrm>
          <a:prstGeom prst="rect">
            <a:avLst/>
          </a:prstGeom>
        </p:spPr>
      </p:pic>
      <p:pic>
        <p:nvPicPr>
          <p:cNvPr id="18" name="Gráfico 17" descr="Insignia 3 contorno">
            <a:extLst>
              <a:ext uri="{FF2B5EF4-FFF2-40B4-BE49-F238E27FC236}">
                <a16:creationId xmlns:a16="http://schemas.microsoft.com/office/drawing/2014/main" id="{52D3D3B6-0240-A89A-F4A0-C3DCE31DF6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0143" y="3555205"/>
            <a:ext cx="545307" cy="509589"/>
          </a:xfrm>
          <a:prstGeom prst="rect">
            <a:avLst/>
          </a:prstGeom>
        </p:spPr>
      </p:pic>
      <p:pic>
        <p:nvPicPr>
          <p:cNvPr id="19" name="Gráfico 18" descr="Insignia 4 contorno">
            <a:extLst>
              <a:ext uri="{FF2B5EF4-FFF2-40B4-BE49-F238E27FC236}">
                <a16:creationId xmlns:a16="http://schemas.microsoft.com/office/drawing/2014/main" id="{CE36B795-63E4-AA61-CAD2-3C3A7231BE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9237" y="3805237"/>
            <a:ext cx="545307" cy="49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5536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53CC73-F17F-55DC-2482-0383DADD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D4AF732-E529-060E-B064-6B55B0CB0274}"/>
              </a:ext>
            </a:extLst>
          </p:cNvPr>
          <p:cNvSpPr txBox="1"/>
          <p:nvPr/>
        </p:nvSpPr>
        <p:spPr>
          <a:xfrm>
            <a:off x="855404" y="350325"/>
            <a:ext cx="8150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>
                <a:solidFill>
                  <a:srgbClr val="093F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Arquitectura del sistema</a:t>
            </a:r>
          </a:p>
        </p:txBody>
      </p:sp>
      <p:pic>
        <p:nvPicPr>
          <p:cNvPr id="3" name="Graphic 2" descr="Puzzle with solid fill">
            <a:extLst>
              <a:ext uri="{FF2B5EF4-FFF2-40B4-BE49-F238E27FC236}">
                <a16:creationId xmlns:a16="http://schemas.microsoft.com/office/drawing/2014/main" id="{578674FE-3EA2-502C-79A7-DE979566B8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2077" y="1929129"/>
            <a:ext cx="574664" cy="574664"/>
          </a:xfrm>
          <a:prstGeom prst="rect">
            <a:avLst/>
          </a:prstGeom>
        </p:spPr>
      </p:pic>
      <p:pic>
        <p:nvPicPr>
          <p:cNvPr id="5" name="Graphic 4" descr="Arrow Down with solid fill">
            <a:extLst>
              <a:ext uri="{FF2B5EF4-FFF2-40B4-BE49-F238E27FC236}">
                <a16:creationId xmlns:a16="http://schemas.microsoft.com/office/drawing/2014/main" id="{D00E7A6B-3BE6-23AE-E0A7-189B7867CA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386" y="3126912"/>
            <a:ext cx="672169" cy="672169"/>
          </a:xfrm>
          <a:prstGeom prst="rect">
            <a:avLst/>
          </a:prstGeom>
        </p:spPr>
      </p:pic>
      <p:pic>
        <p:nvPicPr>
          <p:cNvPr id="7" name="Graphic 6" descr="Arrow Up with solid fill">
            <a:extLst>
              <a:ext uri="{FF2B5EF4-FFF2-40B4-BE49-F238E27FC236}">
                <a16:creationId xmlns:a16="http://schemas.microsoft.com/office/drawing/2014/main" id="{3B62A95E-A2B1-6F3D-6AE9-0E108FE6BD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669" y="3126912"/>
            <a:ext cx="672169" cy="672169"/>
          </a:xfrm>
          <a:prstGeom prst="rect">
            <a:avLst/>
          </a:prstGeom>
        </p:spPr>
      </p:pic>
      <p:pic>
        <p:nvPicPr>
          <p:cNvPr id="10" name="Graphic 9" descr="Magnifying glass outline">
            <a:extLst>
              <a:ext uri="{FF2B5EF4-FFF2-40B4-BE49-F238E27FC236}">
                <a16:creationId xmlns:a16="http://schemas.microsoft.com/office/drawing/2014/main" id="{1D5E92A1-73CD-F5AE-D6EF-E47D0C927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36399" y="1690309"/>
            <a:ext cx="646331" cy="646331"/>
          </a:xfrm>
          <a:prstGeom prst="rect">
            <a:avLst/>
          </a:prstGeom>
        </p:spPr>
      </p:pic>
      <p:pic>
        <p:nvPicPr>
          <p:cNvPr id="12" name="Graphic 11" descr="Left Brain outline">
            <a:extLst>
              <a:ext uri="{FF2B5EF4-FFF2-40B4-BE49-F238E27FC236}">
                <a16:creationId xmlns:a16="http://schemas.microsoft.com/office/drawing/2014/main" id="{8E4D3883-FBF0-4F78-4D02-1FE0802BD8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99292" y="2031953"/>
            <a:ext cx="724665" cy="724665"/>
          </a:xfrm>
          <a:prstGeom prst="rect">
            <a:avLst/>
          </a:prstGeom>
        </p:spPr>
      </p:pic>
      <p:pic>
        <p:nvPicPr>
          <p:cNvPr id="18" name="Graphic 17" descr="Laptop with solid fill">
            <a:extLst>
              <a:ext uri="{FF2B5EF4-FFF2-40B4-BE49-F238E27FC236}">
                <a16:creationId xmlns:a16="http://schemas.microsoft.com/office/drawing/2014/main" id="{A3AA4041-E8A7-9C81-837D-802CBB37F2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4870" y="2242505"/>
            <a:ext cx="724665" cy="724665"/>
          </a:xfrm>
          <a:prstGeom prst="rect">
            <a:avLst/>
          </a:prstGeom>
        </p:spPr>
      </p:pic>
      <p:pic>
        <p:nvPicPr>
          <p:cNvPr id="20" name="Graphic 19" descr="User with solid fill">
            <a:extLst>
              <a:ext uri="{FF2B5EF4-FFF2-40B4-BE49-F238E27FC236}">
                <a16:creationId xmlns:a16="http://schemas.microsoft.com/office/drawing/2014/main" id="{A3771271-94BA-4969-B5C7-423BE6C49E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7080" y="3847702"/>
            <a:ext cx="724665" cy="724665"/>
          </a:xfrm>
          <a:prstGeom prst="rect">
            <a:avLst/>
          </a:prstGeom>
        </p:spPr>
      </p:pic>
      <p:pic>
        <p:nvPicPr>
          <p:cNvPr id="22" name="Graphic 21" descr="Image outline">
            <a:extLst>
              <a:ext uri="{FF2B5EF4-FFF2-40B4-BE49-F238E27FC236}">
                <a16:creationId xmlns:a16="http://schemas.microsoft.com/office/drawing/2014/main" id="{9FA6ECDB-431B-709A-E9FA-A92628F87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97673" y="2124445"/>
            <a:ext cx="724665" cy="724665"/>
          </a:xfrm>
          <a:prstGeom prst="rect">
            <a:avLst/>
          </a:prstGeom>
        </p:spPr>
      </p:pic>
      <p:pic>
        <p:nvPicPr>
          <p:cNvPr id="24" name="Graphic 23" descr="Robot with solid fill">
            <a:extLst>
              <a:ext uri="{FF2B5EF4-FFF2-40B4-BE49-F238E27FC236}">
                <a16:creationId xmlns:a16="http://schemas.microsoft.com/office/drawing/2014/main" id="{E2CB60CE-FD42-8C7C-C464-ABA2EC3B4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30560" y="2399956"/>
            <a:ext cx="724665" cy="724665"/>
          </a:xfrm>
          <a:prstGeom prst="rect">
            <a:avLst/>
          </a:prstGeom>
        </p:spPr>
      </p:pic>
      <p:pic>
        <p:nvPicPr>
          <p:cNvPr id="25" name="Graphic 24" descr="Robot with solid fill">
            <a:extLst>
              <a:ext uri="{FF2B5EF4-FFF2-40B4-BE49-F238E27FC236}">
                <a16:creationId xmlns:a16="http://schemas.microsoft.com/office/drawing/2014/main" id="{41AFF2DC-72F4-DF5A-CABD-EDAC81FFA1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78343" y="1761976"/>
            <a:ext cx="724665" cy="724665"/>
          </a:xfrm>
          <a:prstGeom prst="rect">
            <a:avLst/>
          </a:prstGeom>
        </p:spPr>
      </p:pic>
      <p:pic>
        <p:nvPicPr>
          <p:cNvPr id="26" name="Graphic 25" descr="Magnifying glass outline">
            <a:extLst>
              <a:ext uri="{FF2B5EF4-FFF2-40B4-BE49-F238E27FC236}">
                <a16:creationId xmlns:a16="http://schemas.microsoft.com/office/drawing/2014/main" id="{5CE9F65D-C603-0474-87C3-A28924CE0A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36399" y="2938603"/>
            <a:ext cx="646331" cy="646331"/>
          </a:xfrm>
          <a:prstGeom prst="rect">
            <a:avLst/>
          </a:prstGeom>
        </p:spPr>
      </p:pic>
      <p:pic>
        <p:nvPicPr>
          <p:cNvPr id="27" name="Graphic 26" descr="Robot with solid fill">
            <a:extLst>
              <a:ext uri="{FF2B5EF4-FFF2-40B4-BE49-F238E27FC236}">
                <a16:creationId xmlns:a16="http://schemas.microsoft.com/office/drawing/2014/main" id="{8DF7A211-A9A9-37C7-2BD7-089FD2D6DC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78343" y="3010270"/>
            <a:ext cx="724665" cy="724665"/>
          </a:xfrm>
          <a:prstGeom prst="rect">
            <a:avLst/>
          </a:prstGeom>
        </p:spPr>
      </p:pic>
      <p:pic>
        <p:nvPicPr>
          <p:cNvPr id="28" name="Graphic 27" descr="Puzzle with solid fill">
            <a:extLst>
              <a:ext uri="{FF2B5EF4-FFF2-40B4-BE49-F238E27FC236}">
                <a16:creationId xmlns:a16="http://schemas.microsoft.com/office/drawing/2014/main" id="{C076E4B9-193B-0A04-03F8-9F6D856D5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7077" y="2902176"/>
            <a:ext cx="574664" cy="574664"/>
          </a:xfrm>
          <a:prstGeom prst="rect">
            <a:avLst/>
          </a:prstGeom>
        </p:spPr>
      </p:pic>
      <p:pic>
        <p:nvPicPr>
          <p:cNvPr id="31" name="Graphic 30" descr="Arrow Down with solid fill">
            <a:extLst>
              <a:ext uri="{FF2B5EF4-FFF2-40B4-BE49-F238E27FC236}">
                <a16:creationId xmlns:a16="http://schemas.microsoft.com/office/drawing/2014/main" id="{79B88F4F-7105-41DB-D1A1-5FB6B76C79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776516" y="2165984"/>
            <a:ext cx="672169" cy="672169"/>
          </a:xfrm>
          <a:prstGeom prst="rect">
            <a:avLst/>
          </a:prstGeom>
        </p:spPr>
      </p:pic>
      <p:pic>
        <p:nvPicPr>
          <p:cNvPr id="32" name="Graphic 31" descr="Arrow Up with solid fill">
            <a:extLst>
              <a:ext uri="{FF2B5EF4-FFF2-40B4-BE49-F238E27FC236}">
                <a16:creationId xmlns:a16="http://schemas.microsoft.com/office/drawing/2014/main" id="{5BD22D97-1FFC-FD34-2B18-00D10355C7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789083" y="2500161"/>
            <a:ext cx="672169" cy="672169"/>
          </a:xfrm>
          <a:prstGeom prst="rect">
            <a:avLst/>
          </a:prstGeom>
        </p:spPr>
      </p:pic>
      <p:pic>
        <p:nvPicPr>
          <p:cNvPr id="33" name="Graphic 32" descr="Arrow Down with solid fill">
            <a:extLst>
              <a:ext uri="{FF2B5EF4-FFF2-40B4-BE49-F238E27FC236}">
                <a16:creationId xmlns:a16="http://schemas.microsoft.com/office/drawing/2014/main" id="{0A9F56AD-5953-CDF1-DA23-D83B1E41A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4652193" y="2114613"/>
            <a:ext cx="672169" cy="672169"/>
          </a:xfrm>
          <a:prstGeom prst="rect">
            <a:avLst/>
          </a:prstGeom>
        </p:spPr>
      </p:pic>
      <p:pic>
        <p:nvPicPr>
          <p:cNvPr id="34" name="Graphic 33" descr="Arrow Up with solid fill">
            <a:extLst>
              <a:ext uri="{FF2B5EF4-FFF2-40B4-BE49-F238E27FC236}">
                <a16:creationId xmlns:a16="http://schemas.microsoft.com/office/drawing/2014/main" id="{7A98FBBE-5E2C-0B2A-FE8C-2F1B00D1E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652192" y="2476945"/>
            <a:ext cx="672169" cy="672169"/>
          </a:xfrm>
          <a:prstGeom prst="rect">
            <a:avLst/>
          </a:prstGeom>
        </p:spPr>
      </p:pic>
      <p:pic>
        <p:nvPicPr>
          <p:cNvPr id="35" name="Graphic 34" descr="Robot with solid fill">
            <a:extLst>
              <a:ext uri="{FF2B5EF4-FFF2-40B4-BE49-F238E27FC236}">
                <a16:creationId xmlns:a16="http://schemas.microsoft.com/office/drawing/2014/main" id="{E264B4D1-97E7-B64A-229A-B173611E7A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09884" y="2327345"/>
            <a:ext cx="724665" cy="724665"/>
          </a:xfrm>
          <a:prstGeom prst="rect">
            <a:avLst/>
          </a:prstGeom>
        </p:spPr>
      </p:pic>
      <p:pic>
        <p:nvPicPr>
          <p:cNvPr id="36" name="Graphic 35" descr="Arrow Down with solid fill">
            <a:extLst>
              <a:ext uri="{FF2B5EF4-FFF2-40B4-BE49-F238E27FC236}">
                <a16:creationId xmlns:a16="http://schemas.microsoft.com/office/drawing/2014/main" id="{D1490FD1-8417-BA1B-CBDB-9EA13D3561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200405" y="2113945"/>
            <a:ext cx="672169" cy="672169"/>
          </a:xfrm>
          <a:prstGeom prst="rect">
            <a:avLst/>
          </a:prstGeom>
        </p:spPr>
      </p:pic>
      <p:pic>
        <p:nvPicPr>
          <p:cNvPr id="37" name="Graphic 36" descr="Arrow Up with solid fill">
            <a:extLst>
              <a:ext uri="{FF2B5EF4-FFF2-40B4-BE49-F238E27FC236}">
                <a16:creationId xmlns:a16="http://schemas.microsoft.com/office/drawing/2014/main" id="{ED613E3A-1C1A-3B94-FFB1-21FDEBA058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200404" y="2476277"/>
            <a:ext cx="672169" cy="672169"/>
          </a:xfrm>
          <a:prstGeom prst="rect">
            <a:avLst/>
          </a:prstGeom>
        </p:spPr>
      </p:pic>
      <p:pic>
        <p:nvPicPr>
          <p:cNvPr id="38" name="Graphic 37" descr="Arrow Down with solid fill">
            <a:extLst>
              <a:ext uri="{FF2B5EF4-FFF2-40B4-BE49-F238E27FC236}">
                <a16:creationId xmlns:a16="http://schemas.microsoft.com/office/drawing/2014/main" id="{9560A31A-6813-684B-D2B6-37A1E8F1DD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9818158" y="2194600"/>
            <a:ext cx="672169" cy="672169"/>
          </a:xfrm>
          <a:prstGeom prst="rect">
            <a:avLst/>
          </a:prstGeom>
        </p:spPr>
      </p:pic>
      <p:pic>
        <p:nvPicPr>
          <p:cNvPr id="39" name="Graphic 38" descr="Arrow Up with solid fill">
            <a:extLst>
              <a:ext uri="{FF2B5EF4-FFF2-40B4-BE49-F238E27FC236}">
                <a16:creationId xmlns:a16="http://schemas.microsoft.com/office/drawing/2014/main" id="{4096AE51-3D38-004C-E1F2-E06E905E9F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818157" y="2556932"/>
            <a:ext cx="672169" cy="672169"/>
          </a:xfrm>
          <a:prstGeom prst="rect">
            <a:avLst/>
          </a:prstGeom>
        </p:spPr>
      </p:pic>
      <p:pic>
        <p:nvPicPr>
          <p:cNvPr id="41" name="Graphic 40" descr="Open folder with solid fill">
            <a:extLst>
              <a:ext uri="{FF2B5EF4-FFF2-40B4-BE49-F238E27FC236}">
                <a16:creationId xmlns:a16="http://schemas.microsoft.com/office/drawing/2014/main" id="{F81748A8-535C-984A-AA58-14ABE9E8B1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97216" y="5149947"/>
            <a:ext cx="883477" cy="883477"/>
          </a:xfrm>
          <a:prstGeom prst="rect">
            <a:avLst/>
          </a:prstGeom>
        </p:spPr>
      </p:pic>
      <p:pic>
        <p:nvPicPr>
          <p:cNvPr id="50" name="Graphic 49" descr="Stamp outline">
            <a:extLst>
              <a:ext uri="{FF2B5EF4-FFF2-40B4-BE49-F238E27FC236}">
                <a16:creationId xmlns:a16="http://schemas.microsoft.com/office/drawing/2014/main" id="{BCD53B93-7B4C-9353-A1B2-0FC30874EC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54053" y="3992516"/>
            <a:ext cx="596569" cy="596569"/>
          </a:xfrm>
          <a:prstGeom prst="rect">
            <a:avLst/>
          </a:prstGeom>
        </p:spPr>
      </p:pic>
      <p:pic>
        <p:nvPicPr>
          <p:cNvPr id="51" name="Graphic 50" descr="Robot with solid fill">
            <a:extLst>
              <a:ext uri="{FF2B5EF4-FFF2-40B4-BE49-F238E27FC236}">
                <a16:creationId xmlns:a16="http://schemas.microsoft.com/office/drawing/2014/main" id="{EC7F7394-CC1E-9DF8-E22A-B63F968744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6909" y="4117243"/>
            <a:ext cx="724665" cy="724665"/>
          </a:xfrm>
          <a:prstGeom prst="rect">
            <a:avLst/>
          </a:prstGeom>
        </p:spPr>
      </p:pic>
      <p:pic>
        <p:nvPicPr>
          <p:cNvPr id="52" name="Graphic 51" descr="Arrow Down with solid fill">
            <a:extLst>
              <a:ext uri="{FF2B5EF4-FFF2-40B4-BE49-F238E27FC236}">
                <a16:creationId xmlns:a16="http://schemas.microsoft.com/office/drawing/2014/main" id="{32A39BCE-5A01-C8E9-422A-5EF94E3FFA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3753" y="3121287"/>
            <a:ext cx="672169" cy="672169"/>
          </a:xfrm>
          <a:prstGeom prst="rect">
            <a:avLst/>
          </a:prstGeom>
        </p:spPr>
      </p:pic>
      <p:pic>
        <p:nvPicPr>
          <p:cNvPr id="53" name="Graphic 52" descr="Arrow Up with solid fill">
            <a:extLst>
              <a:ext uri="{FF2B5EF4-FFF2-40B4-BE49-F238E27FC236}">
                <a16:creationId xmlns:a16="http://schemas.microsoft.com/office/drawing/2014/main" id="{8FF31489-A9D7-DF68-ACDC-755B7A105F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0036" y="3121287"/>
            <a:ext cx="672169" cy="67216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95E731F-F3F6-458D-EC80-BF8F477AE6FC}"/>
              </a:ext>
            </a:extLst>
          </p:cNvPr>
          <p:cNvSpPr txBox="1"/>
          <p:nvPr/>
        </p:nvSpPr>
        <p:spPr>
          <a:xfrm>
            <a:off x="10599415" y="1192031"/>
            <a:ext cx="939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err="1"/>
              <a:t>APIs</a:t>
            </a:r>
            <a:endParaRPr lang="es-ES" b="1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B2A3F8-6081-B98D-DDCC-6810884AFAC0}"/>
              </a:ext>
            </a:extLst>
          </p:cNvPr>
          <p:cNvSpPr txBox="1"/>
          <p:nvPr/>
        </p:nvSpPr>
        <p:spPr>
          <a:xfrm>
            <a:off x="5200907" y="1257861"/>
            <a:ext cx="166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Agente Planificador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5D2B786-D920-7224-41EF-C99239C70FE1}"/>
              </a:ext>
            </a:extLst>
          </p:cNvPr>
          <p:cNvSpPr txBox="1"/>
          <p:nvPr/>
        </p:nvSpPr>
        <p:spPr>
          <a:xfrm>
            <a:off x="8108060" y="953292"/>
            <a:ext cx="166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Agentes Buscadores</a:t>
            </a:r>
            <a:endParaRPr lang="es-E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0092934-D04E-1EFD-9D6D-2C9601F68E3F}"/>
              </a:ext>
            </a:extLst>
          </p:cNvPr>
          <p:cNvSpPr txBox="1"/>
          <p:nvPr/>
        </p:nvSpPr>
        <p:spPr>
          <a:xfrm>
            <a:off x="276756" y="4534033"/>
            <a:ext cx="130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Usuario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B096FB-6BDA-4C2A-4F1A-8DB5DE47C2DD}"/>
              </a:ext>
            </a:extLst>
          </p:cNvPr>
          <p:cNvSpPr txBox="1"/>
          <p:nvPr/>
        </p:nvSpPr>
        <p:spPr>
          <a:xfrm>
            <a:off x="2663814" y="1581027"/>
            <a:ext cx="1305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Agente Interfaz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0F71C8-83E8-D616-83A7-EFC3B0FECB0F}"/>
              </a:ext>
            </a:extLst>
          </p:cNvPr>
          <p:cNvSpPr txBox="1"/>
          <p:nvPr/>
        </p:nvSpPr>
        <p:spPr>
          <a:xfrm>
            <a:off x="2768276" y="4912872"/>
            <a:ext cx="130531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b="1"/>
              <a:t>Agente poster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9BF6903-C2CE-773A-2A22-F44D5D9C26F7}"/>
              </a:ext>
            </a:extLst>
          </p:cNvPr>
          <p:cNvSpPr txBox="1"/>
          <p:nvPr/>
        </p:nvSpPr>
        <p:spPr>
          <a:xfrm>
            <a:off x="5593788" y="5944069"/>
            <a:ext cx="166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Directorio facilitador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CEA6E1A1-FFC5-1E70-11B2-431D7346B5EB}"/>
              </a:ext>
            </a:extLst>
          </p:cNvPr>
          <p:cNvCxnSpPr>
            <a:cxnSpLocks/>
            <a:stCxn id="66" idx="2"/>
            <a:endCxn id="69" idx="1"/>
          </p:cNvCxnSpPr>
          <p:nvPr/>
        </p:nvCxnSpPr>
        <p:spPr>
          <a:xfrm rot="16200000" flipH="1">
            <a:off x="4153344" y="4826791"/>
            <a:ext cx="708032" cy="2172856"/>
          </a:xfrm>
          <a:prstGeom prst="bentConnector2">
            <a:avLst/>
          </a:prstGeom>
          <a:ln w="38100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FEFD56A9-5E74-3A29-527F-66C1543AAC5D}"/>
              </a:ext>
            </a:extLst>
          </p:cNvPr>
          <p:cNvCxnSpPr>
            <a:cxnSpLocks/>
            <a:stCxn id="102" idx="2"/>
            <a:endCxn id="69" idx="3"/>
          </p:cNvCxnSpPr>
          <p:nvPr/>
        </p:nvCxnSpPr>
        <p:spPr>
          <a:xfrm rot="5400000">
            <a:off x="6905309" y="4152790"/>
            <a:ext cx="2468154" cy="1760737"/>
          </a:xfrm>
          <a:prstGeom prst="bentConnector2">
            <a:avLst/>
          </a:prstGeom>
          <a:ln w="38100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4E461D6C-B619-0718-745D-EE710526C2C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11294" y="4134682"/>
            <a:ext cx="1989201" cy="2805"/>
          </a:xfrm>
          <a:prstGeom prst="bentConnector3">
            <a:avLst>
              <a:gd name="adj1" fmla="val 50000"/>
            </a:avLst>
          </a:prstGeom>
          <a:ln w="38100">
            <a:prstDash val="dash"/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20BABE3-4FFA-CC46-1815-15F4F3250477}"/>
              </a:ext>
            </a:extLst>
          </p:cNvPr>
          <p:cNvSpPr txBox="1"/>
          <p:nvPr/>
        </p:nvSpPr>
        <p:spPr>
          <a:xfrm>
            <a:off x="203338" y="3343613"/>
            <a:ext cx="3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34B4499-F965-8C94-E3C0-54CC6FF4194E}"/>
              </a:ext>
            </a:extLst>
          </p:cNvPr>
          <p:cNvSpPr txBox="1"/>
          <p:nvPr/>
        </p:nvSpPr>
        <p:spPr>
          <a:xfrm>
            <a:off x="1928746" y="2012539"/>
            <a:ext cx="3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D3FCEA3-9678-E982-6AA4-86F4800AC43E}"/>
              </a:ext>
            </a:extLst>
          </p:cNvPr>
          <p:cNvSpPr txBox="1"/>
          <p:nvPr/>
        </p:nvSpPr>
        <p:spPr>
          <a:xfrm>
            <a:off x="4805651" y="2005171"/>
            <a:ext cx="3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AE6F9C5-759D-7C72-CAD9-738E1D6F15EF}"/>
              </a:ext>
            </a:extLst>
          </p:cNvPr>
          <p:cNvSpPr txBox="1"/>
          <p:nvPr/>
        </p:nvSpPr>
        <p:spPr>
          <a:xfrm>
            <a:off x="7390797" y="1967308"/>
            <a:ext cx="3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B163A1F-C860-F891-E737-B4B5538F089E}"/>
              </a:ext>
            </a:extLst>
          </p:cNvPr>
          <p:cNvSpPr txBox="1"/>
          <p:nvPr/>
        </p:nvSpPr>
        <p:spPr>
          <a:xfrm>
            <a:off x="9993416" y="1939642"/>
            <a:ext cx="3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148E00D-0BB8-3ED6-F029-4A63D0B221A0}"/>
              </a:ext>
            </a:extLst>
          </p:cNvPr>
          <p:cNvSpPr txBox="1"/>
          <p:nvPr/>
        </p:nvSpPr>
        <p:spPr>
          <a:xfrm>
            <a:off x="10060889" y="3077102"/>
            <a:ext cx="3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D43B953-97A6-31FC-FF26-30C1B1E06DBF}"/>
              </a:ext>
            </a:extLst>
          </p:cNvPr>
          <p:cNvSpPr txBox="1"/>
          <p:nvPr/>
        </p:nvSpPr>
        <p:spPr>
          <a:xfrm>
            <a:off x="7408675" y="2983041"/>
            <a:ext cx="3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07CD7E-568E-EB68-C3CD-222A5938459A}"/>
              </a:ext>
            </a:extLst>
          </p:cNvPr>
          <p:cNvSpPr txBox="1"/>
          <p:nvPr/>
        </p:nvSpPr>
        <p:spPr>
          <a:xfrm>
            <a:off x="4828759" y="2973209"/>
            <a:ext cx="3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55A7632-5335-06A8-B964-423D9216817F}"/>
              </a:ext>
            </a:extLst>
          </p:cNvPr>
          <p:cNvSpPr txBox="1"/>
          <p:nvPr/>
        </p:nvSpPr>
        <p:spPr>
          <a:xfrm>
            <a:off x="3660351" y="3263890"/>
            <a:ext cx="3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66B8C18-12D0-547E-B67A-17C4CBE71EC5}"/>
              </a:ext>
            </a:extLst>
          </p:cNvPr>
          <p:cNvSpPr txBox="1"/>
          <p:nvPr/>
        </p:nvSpPr>
        <p:spPr>
          <a:xfrm>
            <a:off x="2625376" y="3323529"/>
            <a:ext cx="536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10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A1AC32C-028B-B9D9-E94F-C52DEDE0A204}"/>
              </a:ext>
            </a:extLst>
          </p:cNvPr>
          <p:cNvSpPr txBox="1"/>
          <p:nvPr/>
        </p:nvSpPr>
        <p:spPr>
          <a:xfrm>
            <a:off x="1906361" y="2921287"/>
            <a:ext cx="536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11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E8B86E8-8312-11A6-AA2B-B63E49511EF8}"/>
              </a:ext>
            </a:extLst>
          </p:cNvPr>
          <p:cNvSpPr txBox="1"/>
          <p:nvPr/>
        </p:nvSpPr>
        <p:spPr>
          <a:xfrm>
            <a:off x="1153318" y="3295560"/>
            <a:ext cx="536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12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85CC20C-E4CB-2137-905C-74D06EDCAC45}"/>
              </a:ext>
            </a:extLst>
          </p:cNvPr>
          <p:cNvSpPr txBox="1"/>
          <p:nvPr/>
        </p:nvSpPr>
        <p:spPr>
          <a:xfrm>
            <a:off x="3895734" y="6356941"/>
            <a:ext cx="108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Registro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8A5A3A-95F2-61C5-BA45-5605C4ABDE1E}"/>
              </a:ext>
            </a:extLst>
          </p:cNvPr>
          <p:cNvSpPr txBox="1"/>
          <p:nvPr/>
        </p:nvSpPr>
        <p:spPr>
          <a:xfrm>
            <a:off x="7867850" y="6337810"/>
            <a:ext cx="108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Registro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AA3815E-3707-3579-3D72-49C11387A41D}"/>
              </a:ext>
            </a:extLst>
          </p:cNvPr>
          <p:cNvSpPr txBox="1"/>
          <p:nvPr/>
        </p:nvSpPr>
        <p:spPr>
          <a:xfrm rot="16200000">
            <a:off x="5429276" y="3759048"/>
            <a:ext cx="108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Registro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1AC964-3B0F-CB15-6AF7-A25076740B9B}"/>
              </a:ext>
            </a:extLst>
          </p:cNvPr>
          <p:cNvSpPr txBox="1"/>
          <p:nvPr/>
        </p:nvSpPr>
        <p:spPr>
          <a:xfrm rot="16200000">
            <a:off x="5844548" y="4206076"/>
            <a:ext cx="108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Consulta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AEC3767-0D75-535B-BD1C-A02E59EBD900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3920805" y="3052010"/>
            <a:ext cx="2076411" cy="2539676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B9CF3316-5D96-B797-C767-0E9BA1741254}"/>
              </a:ext>
            </a:extLst>
          </p:cNvPr>
          <p:cNvSpPr txBox="1"/>
          <p:nvPr/>
        </p:nvSpPr>
        <p:spPr>
          <a:xfrm rot="2868638">
            <a:off x="4070146" y="4020173"/>
            <a:ext cx="108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Consulta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D78986C-FCEE-87E0-107E-F57CAD4A99FC}"/>
              </a:ext>
            </a:extLst>
          </p:cNvPr>
          <p:cNvSpPr/>
          <p:nvPr/>
        </p:nvSpPr>
        <p:spPr>
          <a:xfrm>
            <a:off x="8377085" y="1581026"/>
            <a:ext cx="1285337" cy="22180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D4480EB-DA2C-9813-53E4-2B22B9F2DAF3}"/>
              </a:ext>
            </a:extLst>
          </p:cNvPr>
          <p:cNvSpPr/>
          <p:nvPr/>
        </p:nvSpPr>
        <p:spPr>
          <a:xfrm>
            <a:off x="10501740" y="1566398"/>
            <a:ext cx="1285337" cy="22180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0635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BC99F6E-9003-307A-1BB0-905249CB5E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06" b="2065"/>
          <a:stretch>
            <a:fillRect/>
          </a:stretch>
        </p:blipFill>
        <p:spPr>
          <a:xfrm>
            <a:off x="440695" y="996656"/>
            <a:ext cx="11310609" cy="51409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E65A3C4-0B49-42A0-7C87-F00FAEE4480C}"/>
              </a:ext>
            </a:extLst>
          </p:cNvPr>
          <p:cNvSpPr txBox="1"/>
          <p:nvPr/>
        </p:nvSpPr>
        <p:spPr>
          <a:xfrm>
            <a:off x="855404" y="350325"/>
            <a:ext cx="8150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>
                <a:solidFill>
                  <a:srgbClr val="093F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Arquitectura del sistema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D1421E-FAF6-AE8F-94C5-58344711CF17}"/>
              </a:ext>
            </a:extLst>
          </p:cNvPr>
          <p:cNvSpPr txBox="1"/>
          <p:nvPr/>
        </p:nvSpPr>
        <p:spPr>
          <a:xfrm>
            <a:off x="9173497" y="4281948"/>
            <a:ext cx="28021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6. Respuestas JSON </a:t>
            </a:r>
          </a:p>
          <a:p>
            <a:r>
              <a:rPr lang="es-ES"/>
              <a:t>7. Mensaje ACL INFORM</a:t>
            </a:r>
          </a:p>
          <a:p>
            <a:r>
              <a:rPr lang="es-ES"/>
              <a:t>8. Mensaje ACL INFORM</a:t>
            </a:r>
          </a:p>
          <a:p>
            <a:r>
              <a:rPr lang="es-ES"/>
              <a:t>9. Mensaje ACL REQUEST</a:t>
            </a:r>
          </a:p>
          <a:p>
            <a:r>
              <a:rPr lang="es-ES"/>
              <a:t>10. Mensaje ACL INFORM</a:t>
            </a:r>
          </a:p>
          <a:p>
            <a:r>
              <a:rPr lang="es-ES"/>
              <a:t>11. Resultado en interfaz</a:t>
            </a:r>
          </a:p>
          <a:p>
            <a:r>
              <a:rPr lang="es-ES"/>
              <a:t>12.  Obtención de la lista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F2BBC3-0DBC-C519-D65D-CF2B35798665}"/>
              </a:ext>
            </a:extLst>
          </p:cNvPr>
          <p:cNvSpPr txBox="1"/>
          <p:nvPr/>
        </p:nvSpPr>
        <p:spPr>
          <a:xfrm>
            <a:off x="285135" y="4471119"/>
            <a:ext cx="28021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1. Consulta</a:t>
            </a:r>
          </a:p>
          <a:p>
            <a:r>
              <a:rPr lang="es-ES"/>
              <a:t>2. Recogida de datos</a:t>
            </a:r>
          </a:p>
          <a:p>
            <a:r>
              <a:rPr lang="es-ES"/>
              <a:t>3. Mensaje ACL REQUEST</a:t>
            </a:r>
          </a:p>
          <a:p>
            <a:r>
              <a:rPr lang="es-ES"/>
              <a:t>4. Mensaje ACL REQUEST</a:t>
            </a:r>
          </a:p>
          <a:p>
            <a:r>
              <a:rPr lang="es-ES"/>
              <a:t>5. Peticiones HTTP REST</a:t>
            </a:r>
          </a:p>
        </p:txBody>
      </p:sp>
      <p:pic>
        <p:nvPicPr>
          <p:cNvPr id="2" name="Graphic 1" descr="Open folder with solid fill">
            <a:extLst>
              <a:ext uri="{FF2B5EF4-FFF2-40B4-BE49-F238E27FC236}">
                <a16:creationId xmlns:a16="http://schemas.microsoft.com/office/drawing/2014/main" id="{EB46550D-1029-8277-1EEA-56B8435F10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9061" y="5297610"/>
            <a:ext cx="883477" cy="88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499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D38C7-A9CA-ECC0-926C-C09E60D6D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D991458-3097-56DE-4716-82D58A2A43CB}"/>
              </a:ext>
            </a:extLst>
          </p:cNvPr>
          <p:cNvSpPr txBox="1"/>
          <p:nvPr/>
        </p:nvSpPr>
        <p:spPr>
          <a:xfrm>
            <a:off x="855403" y="350325"/>
            <a:ext cx="9606119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>
                <a:solidFill>
                  <a:srgbClr val="093FA8"/>
                </a:solidFill>
                <a:latin typeface="Calibri"/>
                <a:ea typeface="Calibri"/>
                <a:cs typeface="Calibri"/>
              </a:rPr>
              <a:t>4. Desarrollo: Agente Planificador</a:t>
            </a:r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5462247B-8D55-94F7-BBE1-37583FD0FFCD}"/>
              </a:ext>
            </a:extLst>
          </p:cNvPr>
          <p:cNvSpPr/>
          <p:nvPr/>
        </p:nvSpPr>
        <p:spPr>
          <a:xfrm>
            <a:off x="1265453" y="1248818"/>
            <a:ext cx="45719" cy="64633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A4F661C4-00C9-2DC6-C0FE-3FB899E5D961}"/>
              </a:ext>
            </a:extLst>
          </p:cNvPr>
          <p:cNvSpPr/>
          <p:nvPr/>
        </p:nvSpPr>
        <p:spPr>
          <a:xfrm>
            <a:off x="1464362" y="1267868"/>
            <a:ext cx="3792945" cy="1149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b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Registro </a:t>
            </a:r>
            <a:r>
              <a:rPr lang="en-US" b="1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b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b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Directorio </a:t>
            </a:r>
            <a:r>
              <a:rPr lang="en-US" b="1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Facilitador</a:t>
            </a:r>
            <a:r>
              <a:rPr lang="en-US" b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b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s-ES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planificacion</a:t>
            </a:r>
            <a:r>
              <a:rPr lang="en-US" b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E944BDC7-7965-8974-FB8B-F61389BA02EA}"/>
              </a:ext>
            </a:extLst>
          </p:cNvPr>
          <p:cNvSpPr/>
          <p:nvPr/>
        </p:nvSpPr>
        <p:spPr>
          <a:xfrm>
            <a:off x="1464363" y="2410954"/>
            <a:ext cx="164385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60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s-ES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CyclicBehaviour</a:t>
            </a:r>
            <a:r>
              <a:rPr lang="es-E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US" sz="110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E84544F8-3027-96D5-F790-D907A13E393B}"/>
              </a:ext>
            </a:extLst>
          </p:cNvPr>
          <p:cNvSpPr/>
          <p:nvPr/>
        </p:nvSpPr>
        <p:spPr>
          <a:xfrm>
            <a:off x="1464362" y="2032786"/>
            <a:ext cx="465130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s-ES" b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Espera petición REQUEST del Agente Interfaz</a:t>
            </a:r>
            <a:endPara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D3ED33D7-F818-008D-215B-1937FBBCAE80}"/>
              </a:ext>
            </a:extLst>
          </p:cNvPr>
          <p:cNvSpPr/>
          <p:nvPr/>
        </p:nvSpPr>
        <p:spPr>
          <a:xfrm>
            <a:off x="1464363" y="4094747"/>
            <a:ext cx="3461598" cy="717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s-ES" sz="160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Respuestas de los agentes buscadores a Mensaje ACL REQUEST</a:t>
            </a:r>
            <a:endParaRPr lang="en-US" sz="160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42251171-3BDF-425A-8E76-E5AEB1DBC725}"/>
              </a:ext>
            </a:extLst>
          </p:cNvPr>
          <p:cNvSpPr/>
          <p:nvPr/>
        </p:nvSpPr>
        <p:spPr>
          <a:xfrm>
            <a:off x="1265453" y="3764777"/>
            <a:ext cx="45719" cy="96871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36D0981A-8EA1-6C01-B005-1259B42E1244}"/>
              </a:ext>
            </a:extLst>
          </p:cNvPr>
          <p:cNvSpPr/>
          <p:nvPr/>
        </p:nvSpPr>
        <p:spPr>
          <a:xfrm>
            <a:off x="1464363" y="3783827"/>
            <a:ext cx="2753675" cy="372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s-ES" b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Recibe las listas de Películas</a:t>
            </a:r>
            <a:endPara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9330B6AC-B0AF-7DCE-883D-DEEEC00CD168}"/>
              </a:ext>
            </a:extLst>
          </p:cNvPr>
          <p:cNvSpPr/>
          <p:nvPr/>
        </p:nvSpPr>
        <p:spPr>
          <a:xfrm>
            <a:off x="1464363" y="5225932"/>
            <a:ext cx="2554082" cy="504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s-ES" sz="160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Ordenación basada en Score </a:t>
            </a:r>
            <a:endParaRPr lang="en-US" sz="160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F73358FA-335E-9671-B935-957B34962EDC}"/>
              </a:ext>
            </a:extLst>
          </p:cNvPr>
          <p:cNvSpPr/>
          <p:nvPr/>
        </p:nvSpPr>
        <p:spPr>
          <a:xfrm>
            <a:off x="1265453" y="4895962"/>
            <a:ext cx="45719" cy="717519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D494F003-C3A2-60A8-59B2-1EB5654CEC5E}"/>
              </a:ext>
            </a:extLst>
          </p:cNvPr>
          <p:cNvSpPr/>
          <p:nvPr/>
        </p:nvSpPr>
        <p:spPr>
          <a:xfrm>
            <a:off x="1464363" y="4915012"/>
            <a:ext cx="2753675" cy="815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s-ES" b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 el algoritmo</a:t>
            </a:r>
            <a:endPara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98E9E79A-743E-E286-8A57-8E26B63E024B}"/>
              </a:ext>
            </a:extLst>
          </p:cNvPr>
          <p:cNvSpPr/>
          <p:nvPr/>
        </p:nvSpPr>
        <p:spPr>
          <a:xfrm>
            <a:off x="1469279" y="6105924"/>
            <a:ext cx="2554082" cy="504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s-ES" sz="160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Mensaje ACL INFORM</a:t>
            </a:r>
            <a:endParaRPr lang="en-US" sz="160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F5C9C3DD-B748-EE57-ACD9-815129B4B381}"/>
              </a:ext>
            </a:extLst>
          </p:cNvPr>
          <p:cNvSpPr/>
          <p:nvPr/>
        </p:nvSpPr>
        <p:spPr>
          <a:xfrm>
            <a:off x="1270369" y="5775954"/>
            <a:ext cx="45719" cy="717519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B337B160-6A1E-784B-8E40-06E5C6302B15}"/>
              </a:ext>
            </a:extLst>
          </p:cNvPr>
          <p:cNvSpPr/>
          <p:nvPr/>
        </p:nvSpPr>
        <p:spPr>
          <a:xfrm>
            <a:off x="1469279" y="5795004"/>
            <a:ext cx="3545172" cy="815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s-ES" b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Manda la lista final al Agente Interfaz</a:t>
            </a:r>
            <a:endPara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450D8EDF-919F-271A-1076-311CF52F830E}"/>
              </a:ext>
            </a:extLst>
          </p:cNvPr>
          <p:cNvSpPr/>
          <p:nvPr/>
        </p:nvSpPr>
        <p:spPr>
          <a:xfrm>
            <a:off x="1265424" y="2032786"/>
            <a:ext cx="45719" cy="717519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D98E34A-00B0-15DC-C01E-B286983C4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809" y="996656"/>
            <a:ext cx="4881143" cy="4881143"/>
          </a:xfrm>
          <a:prstGeom prst="rect">
            <a:avLst/>
          </a:prstGeom>
        </p:spPr>
      </p:pic>
      <p:sp>
        <p:nvSpPr>
          <p:cNvPr id="4" name="Text 10">
            <a:extLst>
              <a:ext uri="{FF2B5EF4-FFF2-40B4-BE49-F238E27FC236}">
                <a16:creationId xmlns:a16="http://schemas.microsoft.com/office/drawing/2014/main" id="{40AD435A-40D5-B9E6-020C-ED6D0083AB51}"/>
              </a:ext>
            </a:extLst>
          </p:cNvPr>
          <p:cNvSpPr/>
          <p:nvPr/>
        </p:nvSpPr>
        <p:spPr>
          <a:xfrm>
            <a:off x="1466293" y="3176812"/>
            <a:ext cx="31973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60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s-ES" sz="1600" i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GestionarConsultaSensores</a:t>
            </a:r>
            <a:r>
              <a:rPr lang="es-E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F8FA5A-1ED8-5430-A621-D9B012B0631C}"/>
              </a:ext>
            </a:extLst>
          </p:cNvPr>
          <p:cNvSpPr/>
          <p:nvPr/>
        </p:nvSpPr>
        <p:spPr>
          <a:xfrm>
            <a:off x="1466292" y="2856519"/>
            <a:ext cx="465130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s-ES" b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Envía REQUEST a Agentes Buscadores</a:t>
            </a:r>
            <a:endPara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74CBD1D-4FCB-0364-017A-30AAF2B86C18}"/>
              </a:ext>
            </a:extLst>
          </p:cNvPr>
          <p:cNvSpPr/>
          <p:nvPr/>
        </p:nvSpPr>
        <p:spPr>
          <a:xfrm>
            <a:off x="1267354" y="2856519"/>
            <a:ext cx="45719" cy="717519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704121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11E9-AC02-6F7E-9BB5-D8F8C1DBF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2090E4-3C57-29ED-3944-B61B24117AEF}"/>
              </a:ext>
            </a:extLst>
          </p:cNvPr>
          <p:cNvSpPr txBox="1"/>
          <p:nvPr/>
        </p:nvSpPr>
        <p:spPr>
          <a:xfrm>
            <a:off x="855403" y="350325"/>
            <a:ext cx="9606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>
                <a:solidFill>
                  <a:srgbClr val="093F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Desarrollo: Agente Buscador TMDB</a:t>
            </a:r>
          </a:p>
        </p:txBody>
      </p:sp>
      <p:pic>
        <p:nvPicPr>
          <p:cNvPr id="2" name="Picture 1" descr="Archivo:Tmdb.new.logo.svg - Wikipedia, la enciclopedia libre">
            <a:extLst>
              <a:ext uri="{FF2B5EF4-FFF2-40B4-BE49-F238E27FC236}">
                <a16:creationId xmlns:a16="http://schemas.microsoft.com/office/drawing/2014/main" id="{4A169AAC-AA24-0028-B51A-CBD86FB4F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157" y="1716795"/>
            <a:ext cx="4103108" cy="29653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E922B9-FED6-FCBB-3ABE-D3813FC9F5FF}"/>
              </a:ext>
            </a:extLst>
          </p:cNvPr>
          <p:cNvSpPr txBox="1"/>
          <p:nvPr/>
        </p:nvSpPr>
        <p:spPr>
          <a:xfrm>
            <a:off x="745450" y="1715223"/>
            <a:ext cx="580037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s-ES" sz="2400"/>
              <a:t>Recibe una petición "REQUEST" del agente planificador.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s-ES" sz="2400"/>
              <a:t>Comportamiento cíclico (</a:t>
            </a:r>
            <a:r>
              <a:rPr lang="es-ES" sz="2400" err="1"/>
              <a:t>CyclicBehaviour</a:t>
            </a:r>
            <a:r>
              <a:rPr lang="es-ES" sz="2400"/>
              <a:t>) para estar siempre esperando nuevas peticiones.</a:t>
            </a:r>
          </a:p>
          <a:p>
            <a:pPr marL="342900" indent="-342900">
              <a:buFont typeface="Arial"/>
              <a:buChar char="•"/>
            </a:pPr>
            <a:r>
              <a:rPr lang="es-ES" sz="2400"/>
              <a:t>Llama a la API, usa la librería GSON para recopilarla y filtrarla.</a:t>
            </a:r>
          </a:p>
          <a:p>
            <a:pPr marL="342900" indent="-342900">
              <a:buFont typeface="Arial"/>
              <a:buChar char="•"/>
            </a:pPr>
            <a:r>
              <a:rPr lang="es-ES" sz="2400"/>
              <a:t>Envía información de las películas al agente planificador.</a:t>
            </a:r>
          </a:p>
        </p:txBody>
      </p:sp>
    </p:spTree>
    <p:extLst>
      <p:ext uri="{BB962C8B-B14F-4D97-AF65-F5344CB8AC3E}">
        <p14:creationId xmlns:p14="http://schemas.microsoft.com/office/powerpoint/2010/main" val="760442113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A021-AA36-3CBC-B362-55A3A0E55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772C91C-CBE9-DF1D-0264-A6151C35CC3F}"/>
              </a:ext>
            </a:extLst>
          </p:cNvPr>
          <p:cNvSpPr txBox="1"/>
          <p:nvPr/>
        </p:nvSpPr>
        <p:spPr>
          <a:xfrm>
            <a:off x="855403" y="350325"/>
            <a:ext cx="9606119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>
                <a:solidFill>
                  <a:srgbClr val="093FA8"/>
                </a:solidFill>
                <a:latin typeface="Calibri"/>
                <a:ea typeface="Calibri"/>
                <a:cs typeface="Calibri"/>
              </a:rPr>
              <a:t>5. Desarrollo: Agente Buscador TRAKT</a:t>
            </a:r>
            <a:endParaRPr lang="es-ES" sz="3600" b="1">
              <a:solidFill>
                <a:srgbClr val="093FA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n 1" descr="Trakt, que es eso? | Alfa Addon">
            <a:extLst>
              <a:ext uri="{FF2B5EF4-FFF2-40B4-BE49-F238E27FC236}">
                <a16:creationId xmlns:a16="http://schemas.microsoft.com/office/drawing/2014/main" id="{12582A04-7E7B-60D3-D7D0-A9E50FF3A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156" y="1384133"/>
            <a:ext cx="2873299" cy="967392"/>
          </a:xfrm>
          <a:prstGeom prst="rect">
            <a:avLst/>
          </a:prstGeom>
        </p:spPr>
      </p:pic>
      <p:grpSp>
        <p:nvGrpSpPr>
          <p:cNvPr id="19" name="Grupo 18">
            <a:extLst>
              <a:ext uri="{FF2B5EF4-FFF2-40B4-BE49-F238E27FC236}">
                <a16:creationId xmlns:a16="http://schemas.microsoft.com/office/drawing/2014/main" id="{36A2791E-4A2D-905A-627F-1F5DB8BA2F47}"/>
              </a:ext>
            </a:extLst>
          </p:cNvPr>
          <p:cNvGrpSpPr/>
          <p:nvPr/>
        </p:nvGrpSpPr>
        <p:grpSpPr>
          <a:xfrm>
            <a:off x="371923" y="1384263"/>
            <a:ext cx="11568871" cy="4890276"/>
            <a:chOff x="506863" y="1904652"/>
            <a:chExt cx="11352559" cy="446909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9CB79055-74EA-2F1B-9484-4436F2C7A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6863" y="1904652"/>
              <a:ext cx="952500" cy="409575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1C347034-CBAB-84F1-E771-FA86B9747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5809" y="2900364"/>
              <a:ext cx="5981700" cy="295275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6BBEEBFA-C735-BEF9-9E23-978A9A84C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35701" y="3770945"/>
              <a:ext cx="7568891" cy="267164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FFC51744-4BA8-DC9D-AFED-C5B8AA0E7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58410" y="4407043"/>
              <a:ext cx="7884842" cy="257175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4686046-F85B-8E57-5224-0A947633D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57536" y="6107972"/>
              <a:ext cx="7619767" cy="265770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52E6AB8F-27FA-3408-9F1E-6A42BC81A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20747" y="5271303"/>
              <a:ext cx="4638675" cy="257175"/>
            </a:xfrm>
            <a:prstGeom prst="rect">
              <a:avLst/>
            </a:prstGeom>
          </p:spPr>
        </p:pic>
        <p:sp>
          <p:nvSpPr>
            <p:cNvPr id="12" name="Flecha: doblada hacia arriba 11">
              <a:extLst>
                <a:ext uri="{FF2B5EF4-FFF2-40B4-BE49-F238E27FC236}">
                  <a16:creationId xmlns:a16="http://schemas.microsoft.com/office/drawing/2014/main" id="{2A26D157-C2A3-8F99-E4C2-E91D077A122B}"/>
                </a:ext>
              </a:extLst>
            </p:cNvPr>
            <p:cNvSpPr/>
            <p:nvPr/>
          </p:nvSpPr>
          <p:spPr>
            <a:xfrm rot="5400000">
              <a:off x="2576651" y="3390312"/>
              <a:ext cx="748352" cy="501217"/>
            </a:xfrm>
            <a:prstGeom prst="bent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Flecha: doblada hacia arriba 12">
              <a:extLst>
                <a:ext uri="{FF2B5EF4-FFF2-40B4-BE49-F238E27FC236}">
                  <a16:creationId xmlns:a16="http://schemas.microsoft.com/office/drawing/2014/main" id="{0FFB1F31-8408-EA2F-4E6A-E69434946C7F}"/>
                </a:ext>
              </a:extLst>
            </p:cNvPr>
            <p:cNvSpPr/>
            <p:nvPr/>
          </p:nvSpPr>
          <p:spPr>
            <a:xfrm rot="5400000">
              <a:off x="2019021" y="3607697"/>
              <a:ext cx="1490166" cy="743522"/>
            </a:xfrm>
            <a:prstGeom prst="bent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7D90E2D4-7DCC-54F6-D1D2-798A412728B0}"/>
                </a:ext>
              </a:extLst>
            </p:cNvPr>
            <p:cNvSpPr/>
            <p:nvPr/>
          </p:nvSpPr>
          <p:spPr>
            <a:xfrm>
              <a:off x="10855052" y="3857335"/>
              <a:ext cx="790354" cy="1394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E0EDBC5E-1550-25EA-2F38-D91B3F11EC7D}"/>
                </a:ext>
              </a:extLst>
            </p:cNvPr>
            <p:cNvSpPr/>
            <p:nvPr/>
          </p:nvSpPr>
          <p:spPr>
            <a:xfrm>
              <a:off x="11176473" y="4424189"/>
              <a:ext cx="450695" cy="1309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Flecha: hacia abajo 15">
              <a:extLst>
                <a:ext uri="{FF2B5EF4-FFF2-40B4-BE49-F238E27FC236}">
                  <a16:creationId xmlns:a16="http://schemas.microsoft.com/office/drawing/2014/main" id="{4F43391C-4619-9E5A-0CD9-1CBBCD0BFB8C}"/>
                </a:ext>
              </a:extLst>
            </p:cNvPr>
            <p:cNvSpPr/>
            <p:nvPr/>
          </p:nvSpPr>
          <p:spPr>
            <a:xfrm>
              <a:off x="11530757" y="3855374"/>
              <a:ext cx="327284" cy="1285874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Flecha: hacia abajo 16">
              <a:extLst>
                <a:ext uri="{FF2B5EF4-FFF2-40B4-BE49-F238E27FC236}">
                  <a16:creationId xmlns:a16="http://schemas.microsoft.com/office/drawing/2014/main" id="{31570529-B72E-C7A2-B840-890D9EDA6EE2}"/>
                </a:ext>
              </a:extLst>
            </p:cNvPr>
            <p:cNvSpPr/>
            <p:nvPr/>
          </p:nvSpPr>
          <p:spPr>
            <a:xfrm>
              <a:off x="7048962" y="5668850"/>
              <a:ext cx="381000" cy="32146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Flecha: hacia arriba 17">
              <a:extLst>
                <a:ext uri="{FF2B5EF4-FFF2-40B4-BE49-F238E27FC236}">
                  <a16:creationId xmlns:a16="http://schemas.microsoft.com/office/drawing/2014/main" id="{D3500AA6-640C-62B9-839D-BBDFDF723790}"/>
                </a:ext>
              </a:extLst>
            </p:cNvPr>
            <p:cNvSpPr/>
            <p:nvPr/>
          </p:nvSpPr>
          <p:spPr>
            <a:xfrm>
              <a:off x="1345406" y="3345656"/>
              <a:ext cx="381000" cy="2452687"/>
            </a:xfrm>
            <a:prstGeom prst="up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" name="Flecha: arriba y abajo 19">
            <a:extLst>
              <a:ext uri="{FF2B5EF4-FFF2-40B4-BE49-F238E27FC236}">
                <a16:creationId xmlns:a16="http://schemas.microsoft.com/office/drawing/2014/main" id="{8F0CBEE4-40C5-0EAA-BCEE-D5FA21608B27}"/>
              </a:ext>
            </a:extLst>
          </p:cNvPr>
          <p:cNvSpPr/>
          <p:nvPr/>
        </p:nvSpPr>
        <p:spPr>
          <a:xfrm>
            <a:off x="954822" y="1868991"/>
            <a:ext cx="282846" cy="523004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3955509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A4CF2-87B8-C84D-62FD-042CAD0B5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47CB816-9759-9268-C622-FBF9520EAA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0B66A-85A8-B8E8-234F-94758AD30026}"/>
              </a:ext>
            </a:extLst>
          </p:cNvPr>
          <p:cNvSpPr txBox="1"/>
          <p:nvPr/>
        </p:nvSpPr>
        <p:spPr>
          <a:xfrm>
            <a:off x="523875" y="5317240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6. Desarrollo: </a:t>
            </a:r>
            <a:r>
              <a:rPr lang="en-US" sz="3600" b="1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Interfaz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62359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855403" y="350325"/>
            <a:ext cx="105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s-ES" sz="3600" b="1">
                <a:solidFill>
                  <a:srgbClr val="093FA8"/>
                </a:solidFill>
                <a:latin typeface="Calibri"/>
              </a:rPr>
              <a:t>6. Desarrollo: Agente Interfaz</a:t>
            </a:r>
          </a:p>
        </p:txBody>
      </p:sp>
      <p:sp>
        <p:nvSpPr>
          <p:cNvPr id="12" name="Box"/>
          <p:cNvSpPr txBox="1"/>
          <p:nvPr/>
        </p:nvSpPr>
        <p:spPr>
          <a:xfrm>
            <a:off x="1452819" y="2803952"/>
            <a:ext cx="2600000" cy="9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093FA8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/>
            <a:r>
              <a:rPr lang="es-ES" sz="1800" b="1">
                <a:solidFill>
                  <a:srgbClr val="272525"/>
                </a:solidFill>
                <a:latin typeface="Calibri"/>
              </a:rPr>
              <a:t>GUI</a:t>
            </a:r>
          </a:p>
          <a:p>
            <a:pPr algn="ctr">
              <a:spcBef>
                <a:spcPts val="300"/>
              </a:spcBef>
            </a:pPr>
            <a:r>
              <a:rPr lang="es-ES" sz="1300" i="1">
                <a:solidFill>
                  <a:srgbClr val="666666"/>
                </a:solidFill>
                <a:latin typeface="Calibri"/>
              </a:rPr>
              <a:t>Swing · usuario</a:t>
            </a:r>
          </a:p>
        </p:txBody>
      </p:sp>
      <p:sp>
        <p:nvSpPr>
          <p:cNvPr id="13" name="ArrowR"/>
          <p:cNvSpPr/>
          <p:nvPr/>
        </p:nvSpPr>
        <p:spPr>
          <a:xfrm>
            <a:off x="4132819" y="3138952"/>
            <a:ext cx="600000" cy="280000"/>
          </a:xfrm>
          <a:prstGeom prst="rightArrow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Label"/>
          <p:cNvSpPr txBox="1"/>
          <p:nvPr/>
        </p:nvSpPr>
        <p:spPr>
          <a:xfrm>
            <a:off x="4132819" y="2721241"/>
            <a:ext cx="6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200" i="1">
                <a:solidFill>
                  <a:srgbClr val="888888"/>
                </a:solidFill>
                <a:latin typeface="Calibri"/>
              </a:rPr>
              <a:t>REQUEST</a:t>
            </a:r>
          </a:p>
        </p:txBody>
      </p:sp>
      <p:sp>
        <p:nvSpPr>
          <p:cNvPr id="15" name="Box"/>
          <p:cNvSpPr txBox="1"/>
          <p:nvPr/>
        </p:nvSpPr>
        <p:spPr>
          <a:xfrm>
            <a:off x="4812819" y="2803952"/>
            <a:ext cx="2600000" cy="9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093FA8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/>
            <a:r>
              <a:rPr lang="es-ES" sz="1800" b="1">
                <a:solidFill>
                  <a:srgbClr val="272525"/>
                </a:solidFill>
                <a:latin typeface="Calibri"/>
              </a:rPr>
              <a:t>AgenteInterfaz</a:t>
            </a:r>
          </a:p>
          <a:p>
            <a:pPr algn="ctr">
              <a:spcBef>
                <a:spcPts val="300"/>
              </a:spcBef>
            </a:pPr>
            <a:r>
              <a:rPr lang="es-ES" sz="1300" i="1">
                <a:solidFill>
                  <a:srgbClr val="666666"/>
                </a:solidFill>
                <a:latin typeface="Calibri"/>
              </a:rPr>
              <a:t>OneShotBeh. · CyclicBeh.</a:t>
            </a:r>
          </a:p>
        </p:txBody>
      </p:sp>
      <p:sp>
        <p:nvSpPr>
          <p:cNvPr id="16" name="ArrowR"/>
          <p:cNvSpPr/>
          <p:nvPr/>
        </p:nvSpPr>
        <p:spPr>
          <a:xfrm>
            <a:off x="7492819" y="3138952"/>
            <a:ext cx="600000" cy="280000"/>
          </a:xfrm>
          <a:prstGeom prst="rightArrow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Label"/>
          <p:cNvSpPr txBox="1"/>
          <p:nvPr/>
        </p:nvSpPr>
        <p:spPr>
          <a:xfrm>
            <a:off x="7492819" y="2721241"/>
            <a:ext cx="6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200" i="1">
                <a:solidFill>
                  <a:srgbClr val="888888"/>
                </a:solidFill>
                <a:latin typeface="Calibri"/>
              </a:rPr>
              <a:t>REQUEST / INFORM</a:t>
            </a:r>
          </a:p>
        </p:txBody>
      </p:sp>
      <p:sp>
        <p:nvSpPr>
          <p:cNvPr id="18" name="Box"/>
          <p:cNvSpPr txBox="1"/>
          <p:nvPr/>
        </p:nvSpPr>
        <p:spPr>
          <a:xfrm>
            <a:off x="8172819" y="2803952"/>
            <a:ext cx="2600000" cy="9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093FA8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/>
            <a:r>
              <a:rPr lang="es-ES" sz="1800" b="1">
                <a:solidFill>
                  <a:srgbClr val="272525"/>
                </a:solidFill>
                <a:latin typeface="Calibri"/>
              </a:rPr>
              <a:t>AgentePlanificador</a:t>
            </a:r>
          </a:p>
          <a:p>
            <a:pPr algn="ctr">
              <a:spcBef>
                <a:spcPts val="300"/>
              </a:spcBef>
            </a:pPr>
            <a:r>
              <a:rPr lang="es-ES" sz="1300" i="1">
                <a:solidFill>
                  <a:srgbClr val="666666"/>
                </a:solidFill>
                <a:latin typeface="Calibri"/>
              </a:rPr>
              <a:t>ranking · scoring</a:t>
            </a:r>
          </a:p>
        </p:txBody>
      </p:sp>
      <p:sp>
        <p:nvSpPr>
          <p:cNvPr id="19" name="ArrowD"/>
          <p:cNvSpPr/>
          <p:nvPr/>
        </p:nvSpPr>
        <p:spPr>
          <a:xfrm>
            <a:off x="5962819" y="3853952"/>
            <a:ext cx="300000" cy="500000"/>
          </a:xfrm>
          <a:prstGeom prst="downArrow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Label"/>
          <p:cNvSpPr txBox="1"/>
          <p:nvPr/>
        </p:nvSpPr>
        <p:spPr>
          <a:xfrm>
            <a:off x="6422988" y="3953952"/>
            <a:ext cx="12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200" i="1">
                <a:solidFill>
                  <a:srgbClr val="888888"/>
                </a:solidFill>
                <a:latin typeface="Calibri"/>
              </a:rPr>
              <a:t>REQUEST / INFORM</a:t>
            </a:r>
          </a:p>
        </p:txBody>
      </p:sp>
      <p:sp>
        <p:nvSpPr>
          <p:cNvPr id="21" name="Box"/>
          <p:cNvSpPr txBox="1"/>
          <p:nvPr/>
        </p:nvSpPr>
        <p:spPr>
          <a:xfrm>
            <a:off x="4812819" y="4403952"/>
            <a:ext cx="2600000" cy="9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093FA8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/>
            <a:r>
              <a:rPr lang="es-ES" sz="1800" b="1">
                <a:solidFill>
                  <a:srgbClr val="272525"/>
                </a:solidFill>
                <a:latin typeface="Calibri"/>
              </a:rPr>
              <a:t>AgenteOMDB</a:t>
            </a:r>
          </a:p>
          <a:p>
            <a:pPr algn="ctr">
              <a:spcBef>
                <a:spcPts val="300"/>
              </a:spcBef>
            </a:pPr>
            <a:r>
              <a:rPr lang="es-ES" sz="1300" i="1">
                <a:solidFill>
                  <a:srgbClr val="666666"/>
                </a:solidFill>
                <a:latin typeface="Calibri"/>
              </a:rPr>
              <a:t>busqueda-posters</a:t>
            </a:r>
          </a:p>
        </p:txBody>
      </p:sp>
      <p:sp>
        <p:nvSpPr>
          <p:cNvPr id="2" name="ArrowR">
            <a:extLst>
              <a:ext uri="{FF2B5EF4-FFF2-40B4-BE49-F238E27FC236}">
                <a16:creationId xmlns:a16="http://schemas.microsoft.com/office/drawing/2014/main" id="{46AE0EF3-498C-0A06-8C8B-228541E88520}"/>
              </a:ext>
            </a:extLst>
          </p:cNvPr>
          <p:cNvSpPr/>
          <p:nvPr/>
        </p:nvSpPr>
        <p:spPr>
          <a:xfrm rot="10800000">
            <a:off x="7492819" y="3422259"/>
            <a:ext cx="600000" cy="280000"/>
          </a:xfrm>
          <a:prstGeom prst="rightArrow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ArrowD">
            <a:extLst>
              <a:ext uri="{FF2B5EF4-FFF2-40B4-BE49-F238E27FC236}">
                <a16:creationId xmlns:a16="http://schemas.microsoft.com/office/drawing/2014/main" id="{A7EAE2EF-4250-8016-99CA-6B204B99855E}"/>
              </a:ext>
            </a:extLst>
          </p:cNvPr>
          <p:cNvSpPr/>
          <p:nvPr/>
        </p:nvSpPr>
        <p:spPr>
          <a:xfrm rot="10800000">
            <a:off x="5659972" y="3844182"/>
            <a:ext cx="300000" cy="500000"/>
          </a:xfrm>
          <a:prstGeom prst="downArrow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493843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855403" y="350325"/>
            <a:ext cx="105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s-ES" sz="3600" b="1">
                <a:solidFill>
                  <a:srgbClr val="093FA8"/>
                </a:solidFill>
                <a:latin typeface="Calibri"/>
              </a:rPr>
              <a:t>6. Desarrollo: Agente OMDB</a:t>
            </a:r>
          </a:p>
        </p:txBody>
      </p:sp>
      <p:sp>
        <p:nvSpPr>
          <p:cNvPr id="12" name="Box"/>
          <p:cNvSpPr txBox="1"/>
          <p:nvPr/>
        </p:nvSpPr>
        <p:spPr>
          <a:xfrm>
            <a:off x="977398" y="2401976"/>
            <a:ext cx="2800000" cy="9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093FA8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/>
            <a:r>
              <a:rPr lang="es-ES" sz="1800" b="1">
                <a:solidFill>
                  <a:srgbClr val="272525"/>
                </a:solidFill>
                <a:latin typeface="Calibri"/>
              </a:rPr>
              <a:t>AgenteInterfaz</a:t>
            </a:r>
          </a:p>
          <a:p>
            <a:pPr algn="ctr">
              <a:spcBef>
                <a:spcPts val="300"/>
              </a:spcBef>
            </a:pPr>
            <a:r>
              <a:rPr lang="es-ES" sz="1300" i="1">
                <a:solidFill>
                  <a:srgbClr val="666666"/>
                </a:solidFill>
                <a:latin typeface="Calibri"/>
              </a:rPr>
              <a:t>envia titulo</a:t>
            </a:r>
          </a:p>
        </p:txBody>
      </p:sp>
      <p:sp>
        <p:nvSpPr>
          <p:cNvPr id="13" name="ArrowR"/>
          <p:cNvSpPr/>
          <p:nvPr/>
        </p:nvSpPr>
        <p:spPr>
          <a:xfrm>
            <a:off x="3943320" y="2736976"/>
            <a:ext cx="600000" cy="280000"/>
          </a:xfrm>
          <a:prstGeom prst="rightArrow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Label"/>
          <p:cNvSpPr txBox="1"/>
          <p:nvPr/>
        </p:nvSpPr>
        <p:spPr>
          <a:xfrm>
            <a:off x="3928490" y="2382588"/>
            <a:ext cx="6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200" i="1">
                <a:solidFill>
                  <a:srgbClr val="888888"/>
                </a:solidFill>
                <a:latin typeface="Calibri"/>
              </a:rPr>
              <a:t>REQUEST</a:t>
            </a:r>
          </a:p>
        </p:txBody>
      </p:sp>
      <p:sp>
        <p:nvSpPr>
          <p:cNvPr id="15" name="Box"/>
          <p:cNvSpPr txBox="1"/>
          <p:nvPr/>
        </p:nvSpPr>
        <p:spPr>
          <a:xfrm>
            <a:off x="4537398" y="2401976"/>
            <a:ext cx="2800000" cy="9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093FA8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/>
            <a:r>
              <a:rPr lang="es-ES" sz="1800" b="1">
                <a:solidFill>
                  <a:srgbClr val="272525"/>
                </a:solidFill>
                <a:latin typeface="Calibri"/>
              </a:rPr>
              <a:t>AgenteOMDB</a:t>
            </a:r>
          </a:p>
          <a:p>
            <a:pPr algn="ctr">
              <a:spcBef>
                <a:spcPts val="300"/>
              </a:spcBef>
            </a:pPr>
            <a:r>
              <a:rPr lang="es-ES" sz="1300" i="1">
                <a:solidFill>
                  <a:srgbClr val="666666"/>
                </a:solidFill>
                <a:latin typeface="Calibri"/>
              </a:rPr>
              <a:t>busqueda-posters</a:t>
            </a:r>
          </a:p>
        </p:txBody>
      </p:sp>
      <p:sp>
        <p:nvSpPr>
          <p:cNvPr id="16" name="ArrowR"/>
          <p:cNvSpPr/>
          <p:nvPr/>
        </p:nvSpPr>
        <p:spPr>
          <a:xfrm>
            <a:off x="7448824" y="2736976"/>
            <a:ext cx="600000" cy="280000"/>
          </a:xfrm>
          <a:prstGeom prst="rightArrow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Label"/>
          <p:cNvSpPr txBox="1"/>
          <p:nvPr/>
        </p:nvSpPr>
        <p:spPr>
          <a:xfrm>
            <a:off x="7444940" y="2245819"/>
            <a:ext cx="6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200" i="1">
                <a:solidFill>
                  <a:srgbClr val="888888"/>
                </a:solidFill>
                <a:latin typeface="Calibri"/>
              </a:rPr>
              <a:t>HTTP GET</a:t>
            </a:r>
          </a:p>
        </p:txBody>
      </p:sp>
      <p:sp>
        <p:nvSpPr>
          <p:cNvPr id="18" name="Box"/>
          <p:cNvSpPr txBox="1"/>
          <p:nvPr/>
        </p:nvSpPr>
        <p:spPr>
          <a:xfrm>
            <a:off x="8097398" y="2401976"/>
            <a:ext cx="2800000" cy="9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093FA8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/>
            <a:r>
              <a:rPr lang="es-ES" sz="1800" b="1">
                <a:solidFill>
                  <a:srgbClr val="272525"/>
                </a:solidFill>
                <a:latin typeface="Calibri"/>
              </a:rPr>
              <a:t>API OMDB</a:t>
            </a:r>
          </a:p>
          <a:p>
            <a:pPr algn="ctr">
              <a:spcBef>
                <a:spcPts val="300"/>
              </a:spcBef>
            </a:pPr>
            <a:r>
              <a:rPr lang="es-ES" sz="1300" i="1">
                <a:solidFill>
                  <a:srgbClr val="666666"/>
                </a:solidFill>
                <a:latin typeface="Calibri"/>
              </a:rPr>
              <a:t>omdbapi.com</a:t>
            </a:r>
          </a:p>
        </p:txBody>
      </p:sp>
      <p:sp>
        <p:nvSpPr>
          <p:cNvPr id="19" name="ArrowD"/>
          <p:cNvSpPr/>
          <p:nvPr/>
        </p:nvSpPr>
        <p:spPr>
          <a:xfrm>
            <a:off x="5787398" y="3451976"/>
            <a:ext cx="300000" cy="500000"/>
          </a:xfrm>
          <a:prstGeom prst="downArrow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Label"/>
          <p:cNvSpPr txBox="1"/>
          <p:nvPr/>
        </p:nvSpPr>
        <p:spPr>
          <a:xfrm>
            <a:off x="6137398" y="3551976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200" i="1">
                <a:solidFill>
                  <a:srgbClr val="888888"/>
                </a:solidFill>
                <a:latin typeface="Calibri"/>
              </a:rPr>
              <a:t>INFORM (URL póster)</a:t>
            </a:r>
          </a:p>
        </p:txBody>
      </p:sp>
      <p:sp>
        <p:nvSpPr>
          <p:cNvPr id="21" name="Box"/>
          <p:cNvSpPr txBox="1"/>
          <p:nvPr/>
        </p:nvSpPr>
        <p:spPr>
          <a:xfrm>
            <a:off x="4537398" y="4001976"/>
            <a:ext cx="2800000" cy="9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093FA8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/>
            <a:r>
              <a:rPr lang="es-ES" sz="1800" b="1">
                <a:solidFill>
                  <a:srgbClr val="272525"/>
                </a:solidFill>
                <a:latin typeface="Calibri"/>
              </a:rPr>
              <a:t>GUI</a:t>
            </a:r>
          </a:p>
          <a:p>
            <a:pPr algn="ctr">
              <a:spcBef>
                <a:spcPts val="300"/>
              </a:spcBef>
            </a:pPr>
            <a:r>
              <a:rPr lang="es-ES" sz="1300" i="1">
                <a:solidFill>
                  <a:srgbClr val="666666"/>
                </a:solidFill>
                <a:latin typeface="Calibri"/>
              </a:rPr>
              <a:t>poster actualizado</a:t>
            </a:r>
          </a:p>
        </p:txBody>
      </p:sp>
      <p:pic>
        <p:nvPicPr>
          <p:cNvPr id="2" name="Imagen 1" descr="OMDB (Open Movie Database) API Tutorial">
            <a:extLst>
              <a:ext uri="{FF2B5EF4-FFF2-40B4-BE49-F238E27FC236}">
                <a16:creationId xmlns:a16="http://schemas.microsoft.com/office/drawing/2014/main" id="{ACB07816-5120-64C5-32AE-AB7C6EFCF6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" b="31658"/>
          <a:stretch>
            <a:fillRect/>
          </a:stretch>
        </p:blipFill>
        <p:spPr>
          <a:xfrm>
            <a:off x="7174057" y="216451"/>
            <a:ext cx="4646713" cy="187051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855403" y="350325"/>
            <a:ext cx="105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s-ES" sz="3600" b="1">
                <a:solidFill>
                  <a:srgbClr val="093FA8"/>
                </a:solidFill>
                <a:latin typeface="Calibri"/>
              </a:rPr>
              <a:t>Conclusión</a:t>
            </a:r>
          </a:p>
        </p:txBody>
      </p:sp>
      <p:sp>
        <p:nvSpPr>
          <p:cNvPr id="12" name="Card"/>
          <p:cNvSpPr txBox="1"/>
          <p:nvPr/>
        </p:nvSpPr>
        <p:spPr>
          <a:xfrm>
            <a:off x="843290" y="1700000"/>
            <a:ext cx="3300000" cy="3800000"/>
          </a:xfrm>
          <a:prstGeom prst="roundRect">
            <a:avLst>
              <a:gd name="adj" fmla="val 8000"/>
            </a:avLst>
          </a:prstGeom>
          <a:solidFill>
            <a:srgbClr val="093FA8"/>
          </a:solidFill>
          <a:ln/>
        </p:spPr>
        <p:txBody>
          <a:bodyPr wrap="square" lIns="182880" tIns="182880" rIns="182880" bIns="182880" anchor="ctr">
            <a:noAutofit/>
          </a:bodyPr>
          <a:lstStyle/>
          <a:p>
            <a:pPr algn="ctr"/>
            <a:r>
              <a:rPr lang="es-ES" sz="3200" b="1">
                <a:solidFill>
                  <a:srgbClr val="FFFFFF"/>
                </a:solidFill>
                <a:latin typeface="Calibri"/>
              </a:rPr>
              <a:t>MODULAR</a:t>
            </a:r>
          </a:p>
          <a:p>
            <a:pPr algn="ctr">
              <a:spcBef>
                <a:spcPts val="600"/>
              </a:spcBef>
            </a:pPr>
            <a:r>
              <a:rPr lang="es-ES" sz="1500" i="1">
                <a:solidFill>
                  <a:srgbClr val="C8D8FF"/>
                </a:solidFill>
                <a:latin typeface="Calibri"/>
              </a:rPr>
              <a:t>cada agente,
una responsabilidad</a:t>
            </a:r>
          </a:p>
        </p:txBody>
      </p:sp>
      <p:sp>
        <p:nvSpPr>
          <p:cNvPr id="13" name="Card"/>
          <p:cNvSpPr txBox="1"/>
          <p:nvPr/>
        </p:nvSpPr>
        <p:spPr>
          <a:xfrm>
            <a:off x="4389290" y="1700000"/>
            <a:ext cx="3300000" cy="3800000"/>
          </a:xfrm>
          <a:prstGeom prst="roundRect">
            <a:avLst>
              <a:gd name="adj" fmla="val 8000"/>
            </a:avLst>
          </a:prstGeom>
          <a:solidFill>
            <a:srgbClr val="093FA8"/>
          </a:solidFill>
          <a:ln/>
        </p:spPr>
        <p:txBody>
          <a:bodyPr wrap="square" lIns="182880" tIns="182880" rIns="182880" bIns="182880" anchor="ctr">
            <a:noAutofit/>
          </a:bodyPr>
          <a:lstStyle/>
          <a:p>
            <a:pPr algn="ctr"/>
            <a:r>
              <a:rPr lang="es-ES" sz="3200" b="1">
                <a:solidFill>
                  <a:srgbClr val="FFFFFF"/>
                </a:solidFill>
                <a:latin typeface="Calibri"/>
              </a:rPr>
              <a:t>DINÁMICO</a:t>
            </a:r>
          </a:p>
          <a:p>
            <a:pPr algn="ctr">
              <a:spcBef>
                <a:spcPts val="600"/>
              </a:spcBef>
            </a:pPr>
            <a:r>
              <a:rPr lang="es-ES" sz="1500" i="1">
                <a:solidFill>
                  <a:srgbClr val="C8D8FF"/>
                </a:solidFill>
                <a:latin typeface="Calibri"/>
              </a:rPr>
              <a:t>descubrimiento
via DF</a:t>
            </a:r>
          </a:p>
        </p:txBody>
      </p:sp>
      <p:sp>
        <p:nvSpPr>
          <p:cNvPr id="14" name="Card"/>
          <p:cNvSpPr txBox="1"/>
          <p:nvPr/>
        </p:nvSpPr>
        <p:spPr>
          <a:xfrm>
            <a:off x="7935290" y="1700000"/>
            <a:ext cx="3300000" cy="3800000"/>
          </a:xfrm>
          <a:prstGeom prst="roundRect">
            <a:avLst>
              <a:gd name="adj" fmla="val 8000"/>
            </a:avLst>
          </a:prstGeom>
          <a:solidFill>
            <a:srgbClr val="093FA8"/>
          </a:solidFill>
          <a:ln/>
        </p:spPr>
        <p:txBody>
          <a:bodyPr wrap="square" lIns="182880" tIns="182880" rIns="182880" bIns="182880" anchor="ctr">
            <a:noAutofit/>
          </a:bodyPr>
          <a:lstStyle/>
          <a:p>
            <a:pPr algn="ctr"/>
            <a:r>
              <a:rPr lang="es-ES" sz="3200" b="1">
                <a:solidFill>
                  <a:srgbClr val="FFFFFF"/>
                </a:solidFill>
                <a:latin typeface="Calibri"/>
              </a:rPr>
              <a:t>ASÍNCRONO</a:t>
            </a:r>
          </a:p>
          <a:p>
            <a:pPr algn="ctr">
              <a:spcBef>
                <a:spcPts val="600"/>
              </a:spcBef>
            </a:pPr>
            <a:r>
              <a:rPr lang="es-ES" sz="1500" i="1">
                <a:solidFill>
                  <a:srgbClr val="C8D8FF"/>
                </a:solidFill>
                <a:latin typeface="Calibri"/>
              </a:rPr>
              <a:t>JADE + Swing
</a:t>
            </a:r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929CC03046E74A81B7D50FC7657516" ma:contentTypeVersion="3" ma:contentTypeDescription="Crear nuevo documento." ma:contentTypeScope="" ma:versionID="7610c3f9ffc51071b8cc8e178d525ee6">
  <xsd:schema xmlns:xsd="http://www.w3.org/2001/XMLSchema" xmlns:xs="http://www.w3.org/2001/XMLSchema" xmlns:p="http://schemas.microsoft.com/office/2006/metadata/properties" xmlns:ns2="fb969f21-f363-463f-abf0-305c8f449e6b" targetNamespace="http://schemas.microsoft.com/office/2006/metadata/properties" ma:root="true" ma:fieldsID="2fbd9be1b7727f3a278a8fe22c4f3b08" ns2:_="">
    <xsd:import namespace="fb969f21-f363-463f-abf0-305c8f449e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969f21-f363-463f-abf0-305c8f449e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C6A18F-D5B7-43A0-97F6-939B7CE13F8A}">
  <ds:schemaRefs>
    <ds:schemaRef ds:uri="fb969f21-f363-463f-abf0-305c8f449e6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013913D-55AD-4400-ADFA-BC668390D1C1}">
  <ds:schemaRefs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fb969f21-f363-463f-abf0-305c8f449e6b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59524A2-C908-46EF-8AB8-54103D1E0C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Panorámica</PresentationFormat>
  <Paragraphs>120</Paragraphs>
  <Slides>13</Slides>
  <Notes>10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Office Theme</vt:lpstr>
      <vt:lpstr>Sistema recomendador de películas SCENA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SILVIA XIANG MAYORGA FERRER</dc:creator>
  <cp:lastModifiedBy>DIEGO GONZALEZ BODALO</cp:lastModifiedBy>
  <cp:revision>19</cp:revision>
  <dcterms:created xsi:type="dcterms:W3CDTF">2026-05-21T21:22:21Z</dcterms:created>
  <dcterms:modified xsi:type="dcterms:W3CDTF">2026-05-26T09:59:01Z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0x01010013929CC03046E74A81B7D50FC7657516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_activity">
    <vt:lpwstr>{"FileActivityType":"9","FileActivityTimeStamp":"2026-05-21T22:03:54.477Z","FileActivityUsersOnPage":[{"DisplayName":"SILVIA XIANG MAYORGA FERRER","Id":"silvia.mayorga@alumnos.upm.es"},{"DisplayName":"DANIEL GOMEZ-REY CARRASCO","Id":"d.gomez-rey@alumnos.upm.es"},{"DisplayName":"MARCOS MEDINA BRIHUEGA","Id":"marcos.medinabri@alumnos.upm.es"},{"DisplayName":"DIEGO GONZALEZ BODALO","Id":"diego.gbodalo@alumnos.upm.es"}],"FileActivityNavigationId":null}</vt:lpwstr>
  </property>
  <property fmtid="{D5CDD505-2E9C-101B-9397-08002B2CF9AE}" pid="6" name="TriggerFlowInfo">
    <vt:lpwstr/>
  </property>
</Properties>
</file>